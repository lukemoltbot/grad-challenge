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(Team Green)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Y1
2027</c:v>
                  </c:pt>
                  <c:pt idx="1">
                    <c:v>Y2
2028</c:v>
                  </c:pt>
                  <c:pt idx="2">
                    <c:v>Y3
2029</c:v>
                  </c:pt>
                  <c:pt idx="3">
                    <c:v>Y4
2030</c:v>
                  </c:pt>
                  <c:pt idx="4">
                    <c:v>Y5
2031</c:v>
                  </c:pt>
                  <c:pt idx="5">
                    <c:v>Y6
2032</c:v>
                  </c:pt>
                  <c:pt idx="6">
                    <c:v>Y7
2033</c:v>
                  </c:pt>
                  <c:pt idx="7">
                    <c:v>Y8
2034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171.67</c:v>
                </c:pt>
                <c:pt idx="1">
                  <c:v>122.92</c:v>
                </c:pt>
                <c:pt idx="2">
                  <c:v>108.94</c:v>
                </c:pt>
                <c:pt idx="3">
                  <c:v>107.64</c:v>
                </c:pt>
                <c:pt idx="4">
                  <c:v>82.88</c:v>
                </c:pt>
                <c:pt idx="5">
                  <c:v>77.03</c:v>
                </c:pt>
                <c:pt idx="6">
                  <c:v>3.25</c:v>
                </c:pt>
                <c:pt idx="7">
                  <c:v>3.25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Old (Populated)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Y1
2027</c:v>
                  </c:pt>
                  <c:pt idx="1">
                    <c:v>Y2
2028</c:v>
                  </c:pt>
                  <c:pt idx="2">
                    <c:v>Y3
2029</c:v>
                  </c:pt>
                  <c:pt idx="3">
                    <c:v>Y4
2030</c:v>
                  </c:pt>
                  <c:pt idx="4">
                    <c:v>Y5
2031</c:v>
                  </c:pt>
                  <c:pt idx="5">
                    <c:v>Y6
2032</c:v>
                  </c:pt>
                  <c:pt idx="6">
                    <c:v>Y7
2033</c:v>
                  </c:pt>
                  <c:pt idx="7">
                    <c:v>Y8
2034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</c:v>
                </c:pt>
                <c:pt idx="1">
                  <c:v>13</c:v>
                </c:pt>
                <c:pt idx="2">
                  <c:v>76.7</c:v>
                </c:pt>
                <c:pt idx="3">
                  <c:v>109.2</c:v>
                </c:pt>
                <c:pt idx="4">
                  <c:v>142.87</c:v>
                </c:pt>
                <c:pt idx="5">
                  <c:v>287.95</c:v>
                </c:pt>
                <c:pt idx="6">
                  <c:v>31.2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PV (AUDM)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158.78</c:v>
                </c:pt>
                <c:pt idx="1">
                  <c:v>105.23</c:v>
                </c:pt>
                <c:pt idx="2">
                  <c:v>86.36</c:v>
                </c:pt>
                <c:pt idx="3">
                  <c:v>79.01</c:v>
                </c:pt>
                <c:pt idx="4">
                  <c:v>56.33</c:v>
                </c:pt>
                <c:pt idx="5">
                  <c:v>48.48</c:v>
                </c:pt>
                <c:pt idx="6">
                  <c:v>1.89</c:v>
                </c:pt>
                <c:pt idx="7">
                  <c:v>1.75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Old PV (AUDM)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12.02</c:v>
                </c:pt>
                <c:pt idx="1">
                  <c:v>11.13</c:v>
                </c:pt>
                <c:pt idx="2">
                  <c:v>60.81</c:v>
                </c:pt>
                <c:pt idx="3">
                  <c:v>80.15</c:v>
                </c:pt>
                <c:pt idx="4">
                  <c:v>97.11</c:v>
                </c:pt>
                <c:pt idx="5">
                  <c:v>181.21</c:v>
                </c:pt>
                <c:pt idx="6">
                  <c:v>18.18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(AUDM)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Roof Supports (×300)</c:v>
                  </c:pt>
                  <c:pt idx="1">
                    <c:v>Continuous Miners (×3)</c:v>
                  </c:pt>
                  <c:pt idx="2">
                    <c:v>Ventilation Network</c:v>
                  </c:pt>
                  <c:pt idx="3">
                    <c:v>Pump Infrastructure</c:v>
                  </c:pt>
                  <c:pt idx="4">
                    <c:v>Geo Studies (×3)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</c:v>
                </c:pt>
                <c:pt idx="1">
                  <c:v>27</c:v>
                </c:pt>
                <c:pt idx="2">
                  <c:v>20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BRAVE BLOSSOM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Schedule Review &amp; Assessment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3291840"/>
            <a:ext cx="457200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Complex_Valuation_Model_-_Team_Green_1.xlsx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schedule is +$74.4M more expensive in PV terms despite only +$3.6M nominal difference — driven by front-loading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Estimated NPV impact: $997M → ~$923M (-7.5%)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09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Blossom Capital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377440"/>
            <a:ext cx="118872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Equipment-level granularity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10972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Subtotal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$521.2M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47472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$518.4M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2377440"/>
            <a:ext cx="118872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+$2.8M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+0.5% — nearly identical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0972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Capex (w/ cont.)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$518.2M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35508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$443.8M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2377440"/>
            <a:ext cx="118872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+$74.4M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+16.8% — front-loading penalty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98280" y="10972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98280" y="1097280"/>
            <a:ext cx="265176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5" name="Text 33"/>
          <p:cNvSpPr/>
          <p:nvPr/>
        </p:nvSpPr>
        <p:spPr>
          <a:xfrm>
            <a:off x="923544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3544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Y1: $132.1M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23544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Y6: $221.5M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235440" y="2377440"/>
            <a:ext cx="118872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923544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fwd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3544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Y6 to Y1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474720"/>
            <a:ext cx="1124712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5661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schedule is nearly identical nominally (+$2.8M, +0.5%) but $74.4M more expensive in present-value terms (+16.8%).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divergence is driven entirely by front-loading: $132.1M deployed in Year 1 vs $10M in the old schedule. The old schedule peaked in Year 6 ($221.5M for the longwall package), which discounted heavily over 6.5 years.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09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vs New Capital Approach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Blossom Capital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097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 SCHEDULE (Populated)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project-level / phase-based line items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221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Longwall = $190M single line item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7523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Equipment = $69.9M single 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2826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+ CHPP EPCM = $48M lump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13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active years (Y1–Y7, 2027–2033)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Year 6 — $221.5M (longwall package)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873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Back-loaded: only $26M in Y1–Y2 (3.9%)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041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cached formula values (never opened in Excel)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097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SCHEDULE (Team Green)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equipment-level / unit-based line items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2219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Longwall decomposed: Shearer $11M, AFC $6M, BSL $6M, Roof Supports $300M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752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Miners: 3 units × $9M = $27M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2826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CHPP broken out: Repairs $5M, Conveyor $5M, Bin $9M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8130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active years (Y1–Y8, 2027–2034)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343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Year 1 — $132.1M (front-loaded)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48737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Front-loaded: $294.6M in Y1–Y2 (43.5%)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54041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formula values present (opened in Excel)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Year-by-Year Capital Profile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09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 Old — Total w/ Contingency (AUDM)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Blossom Capital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00584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46720" y="1097280"/>
            <a:ext cx="3657600" cy="19202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FRONT-LOADING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15087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Y1–Y2: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$294.6M (43.5%)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Y1–Y2: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$26.0M (3.9%)
</a:t>
            </a:r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$268.6M shifted forward by 4–5 years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32004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(w/ Contingency)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3611880"/>
          <a:ext cx="3291840" cy="128016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914400"/>
                <a:gridCol w="6400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$521.2M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$518.4M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 30% Cont.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$677.6M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$673.9M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457200" y="5303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peak: Y1 ($171.7M w/ cont.) — ventilation, roof supports, miners, substations deploy simultaneously.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peak: Y6 ($288.0M w/ cont.) — longwall package + mining equipment + infrastructure concentrated.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Present-Value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09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Discount Rate, Mid-Year Convention, Base Year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Blossom Capital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00584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1097280"/>
            <a:ext cx="4114800" cy="18288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PV DELTA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1508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+$74.4M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77240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PV ($518.2M) vs Old PV ($443.8M)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+16.8% despite only +0.5% nominal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89520" y="31089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vs PV DIVERGENCE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520440"/>
          <a:ext cx="3749040" cy="146304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(8%)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(w/ cont.)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$677.6M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$518.2M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(w/ cont.)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$673.9M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$443.8M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+$3.6M (+0.5%)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+$74.4M (+16.8%)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57200" y="5303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"front-loading penalty": capital brought forward costs more in PV terms even at equal nominal amounts. Old Y6 longwall ($221.5M) discounts to $139.5M; new Y1–Y2 capital ($226.6M) discounts to $205.8M — a $66.3M PV difference from timing alone.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Top-5 Cost Drivers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09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Schedule — % of Base Capital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Blossom Capital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00584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1097280"/>
            <a:ext cx="4114800" cy="2377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ROOF SUPPORTS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1508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57.6%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7724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base capital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2377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units × $1,000k = $300M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than the entire old longwall package ($190M)
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item drives the entire NPV delta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89520" y="36576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SCHEDULE — TOP-5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4069080"/>
          <a:ext cx="3749040" cy="13716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Longwall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Mining Equipment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Infra + CHPP EPCM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Ventilation Shafts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UG Conveyors Reuse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Capital Schedule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09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Equipment-Level Line Items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Blossom Capital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50292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097280"/>
                <a:gridCol w="731520"/>
                <a:gridCol w="914400"/>
                <a:gridCol w="640080"/>
                <a:gridCol w="7315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 (A$k)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(A$M)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Shearer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CHPP Structural Repairs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Y2–Y3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CHPP Conveyor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Y4–Y5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CHPP Raw Coal Bin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Y3–Y6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Ventilation Network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Drainage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×3 Continuous Miners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×300 Roof Supports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×10 DCBs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 U/G Substations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×10 HT Cables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AFC (Panline &amp; Chain)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 Shuttle Cars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 Breaker Feeder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×12 Driftrunners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 Stockpile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×8 Jugs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 Infrastructure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Monorail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 Mobile Fans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Studies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Y1–Y4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Drilling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521.20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(30%)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677.56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09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vs Concerns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Blossom Capital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005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STRENGTHS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164592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6002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equipment-level items provide far better visibility than 12 project-level buckets. Correct granularity for pre-feasibility capital estimate.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395728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3500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 Realism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phasing (0.25/yr, 0.5/yr, 0.125/yr) reflects staged mine development and quarterly deployment rather than single mega-purchases.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145536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09981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Longwall Decomposition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328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$190M longwall broken into shearer ($11M), AFC ($6M), BSL ($6M), roof supports ($300M). More defensible at component level.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89534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84962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Included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0782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Studies ($15M) + Exploration Drilling ($5M) present, addressing a gap noted in earlier reviews.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645152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5994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CHPP Component Visibility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8280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CHPP items (repairs, conveyor, bin) totaling $19M — better than old implicit $48M lump.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539496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3492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Values Present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5577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opened/saved in Excel with cached formula values. All figures cross-verified by independent recomputation.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100584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005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CONCERNS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164592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16002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Support Cost — CRITICAL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1828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× $1M = $300M (57.6%). Typical shields are $200k–$500k/unit; $1M is top of range. Single most sensitive assumption. Drives entire NPV delta.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2542032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249631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Longwall Components Exceed Old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27249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components total $323M vs old $190M package — 70% more. Either old underpriced roof supports, or new overprices them.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3438144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339242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Front-Loading Risk — MATERIAL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362102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$294.6M in Y1–Y2 (43.5%) vs old $26.0M (3.9%). Capital at risk if mine still in pre-production. Creates financing pressure before revenue.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0" y="4334256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0" y="428853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Development Capital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451713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conveyor ($17M), UG conveyors relocation ($20M), mine infrastructure ($5M) = $42M from old schedule with no direct equivalent in new.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5230368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51846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Equipment Reduction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75120" y="54132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$69.9M → new ~$21.2M ($48.7M reduction). Confirm scope definition change, not omission.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NPV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09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Brave Blossom Project 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Blossom Capital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NPV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$997M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Brave Blossom NPV (old capital schedule)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5303520" cy="22860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NEW NPV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554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~$923M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new Team Green capital schedule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3017520"/>
            <a:ext cx="18288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-$74.4M (-7.5%)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1124712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40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CAVEATS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and operating cost schedules assumed unchanged. If new equipment implies different production profiles (CM development + longwall production dual-method), revenue side would also shift.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 capital increase (w/ contingency): +$74.4M — the sole driver of the NPV reduction.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missing development capital (~$42M nominal, ~$35M PV) is added back, NPV would decrease further to ~$888M.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09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Before Incorporation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Blossom Capital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97280"/>
            <a:ext cx="54864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Roof Support Unit Cost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508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Sense-check $1,000k/unit against supplier quotes. Test $500k, $750k, $1,000k sensitivity. At $500k/unit, schedule drops to $371.2M base — cheaper than old.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332720" y="1371600"/>
            <a:ext cx="137160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1033272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286000"/>
            <a:ext cx="502920" cy="50292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2194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Missing Development Capital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conveyor ($17M), UG conveyors relocation ($20M), mine infrastructure ($5M) — confirm captured elsewhere or genuinely omitted. If omitted, add ~$42M.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332720" y="2377440"/>
            <a:ext cx="1371600" cy="3200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4" name="Text 22"/>
          <p:cNvSpPr/>
          <p:nvPr/>
        </p:nvSpPr>
        <p:spPr>
          <a:xfrm>
            <a:off x="1033272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108960"/>
            <a:ext cx="54864" cy="86868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37160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Mining Equipment Scope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$69.9M → new ~$21.2M ($48.7M reduction). Confirm this is a scope definition change, not an omission of equipment categories.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332720" y="3383280"/>
            <a:ext cx="1371600" cy="3200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2" name="Text 30"/>
          <p:cNvSpPr/>
          <p:nvPr/>
        </p:nvSpPr>
        <p:spPr>
          <a:xfrm>
            <a:off x="1033272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11480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371600" y="4206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Production Method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716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includes CMs (development) + longwall (production). Confirm dual-method mine. Revenue schedule should reflect both phases.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332720" y="4389120"/>
            <a:ext cx="1371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10332720" y="4389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512064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Shape 41"/>
          <p:cNvSpPr/>
          <p:nvPr/>
        </p:nvSpPr>
        <p:spPr>
          <a:xfrm>
            <a:off x="685800" y="5303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371600" y="5212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Front-Loading Re-phasing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371600" y="5532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$50M of roof supports from Y1–Y2 to Y3–Y4 saves ~$8M PV. Evaluate whether 50/yr deployment is a hard constraint or can be optimized.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332720" y="5394960"/>
            <a:ext cx="1371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10332720" y="5394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0807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revised analysis: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new schedule as primary basis → Flag roof support cost as #1 sensitivity → Re-compute NPV (~$923M) → Re-examine revenue side for dual-method consistency → Consider adding back missing development items → Update Option A walkthrough &amp; analysis docs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365760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84832"/>
            <a:ext cx="228600" cy="2286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0116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schedule is more defensible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equipment-level items vs 12 project-level buckets — correct granularity for pre-feasibility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862072"/>
            <a:ext cx="228600" cy="2286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788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$74.4M more expensive in PV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063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Front-loading penalty: 43.5% of capital in Y1–Y2 vs 3.9% in old schedule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639312"/>
            <a:ext cx="228600" cy="2286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661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Roof supports are the critical assumption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$300M (57.6% of base) — drives entire NPV delta. Must sense-check unit cost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228600" cy="2286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3434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NPV drops from $997M to ~$923M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reduction, assuming unchanged revenue and opex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5193792"/>
            <a:ext cx="228600" cy="2286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5120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verification items before incorporation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support cost, missing capital, equipment scope, production method, re-phasing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incorporation into revised analysis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Brave Blossom Capital Review</dc:title>
  <dc:subject>PptxGenJS Presentation</dc:subject>
  <dc:creator>Grad Challenge Team</dc:creator>
  <cp:lastModifiedBy>Grad Challenge Team</cp:lastModifiedBy>
  <cp:revision>1</cp:revision>
  <dcterms:created xsi:type="dcterms:W3CDTF">2026-09-02T05:04:03Z</dcterms:created>
  <dcterms:modified xsi:type="dcterms:W3CDTF">2026-09-02T05:04:03Z</dcterms:modified>
</cp:coreProperties>
</file>