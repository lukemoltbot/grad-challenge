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NPV Comparison (8% discount rate, corrected with capital schedule)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NPV ($M)</c:v>
                </c:pt>
              </c:strCache>
            </c:strRef>
          </c:tx>
          <c:spPr>
            <a:solidFill>
              <a:srgbClr val="007ACC"/>
            </a:solidFill>
          </c:spPr>
          <c:cat>
            <c:strRef>
              <c:f>Sheet1!$A$2:$A$4</c:f>
              <c:strCache>
                <c:ptCount val="3"/>
                <c:pt idx="0">
                  <c:v>Springbok
(standalone)</c:v>
                </c:pt>
                <c:pt idx="1">
                  <c:v>Brave Blossom
(standalone)</c:v>
                </c:pt>
                <c:pt idx="2">
                  <c:v>Combined
(Springbok + BB)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279.0</c:v>
                </c:pt>
                <c:pt idx="1">
                  <c:v>923.0</c:v>
                </c:pt>
                <c:pt idx="2">
                  <c:v>1203.0</c:v>
                </c:pt>
              </c:numCache>
            </c:numRef>
          </c:val>
        </c:ser>
        <c:dLbls>
          <c:numFmt formatCode="$#,##0&quot;M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Capital Phasing by Year ($M, direct)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Capital ($M)</c:v>
                </c:pt>
              </c:strCache>
            </c:strRef>
          </c:tx>
          <c:spPr>
            <a:solidFill>
              <a:srgbClr val="007ACC"/>
            </a:solidFill>
          </c:spPr>
          <c:cat>
            <c:strRef>
              <c:f>Sheet1!$A$2:$A$8</c:f>
              <c:strCache>
                <c:ptCount val="8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  <c:pt idx="5">
                  <c:v>2032</c:v>
                </c:pt>
                <c:pt idx="6">
                  <c:v>2033</c:v>
                </c:pt>
                <c:pt idx="7">
                  <c:v>2034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8"/>
                <c:pt idx="0">
                  <c:v>132.0</c:v>
                </c:pt>
                <c:pt idx="1">
                  <c:v>95.0</c:v>
                </c:pt>
                <c:pt idx="2">
                  <c:v>84.0</c:v>
                </c:pt>
                <c:pt idx="3">
                  <c:v>83.0</c:v>
                </c:pt>
                <c:pt idx="4">
                  <c:v>64.0</c:v>
                </c:pt>
                <c:pt idx="5">
                  <c:v>59.0</c:v>
                </c:pt>
                <c:pt idx="6">
                  <c:v>3.0</c:v>
                </c:pt>
                <c:pt idx="7">
                  <c:v>3.0</c:v>
                </c:pt>
              </c:numCache>
            </c:numRef>
          </c:val>
        </c:ser>
        <c:dLbls>
          <c:numFmt formatCode="$#,##0&quot;M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$900M Closure Liability Composition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Direct Works ($494M)</c:v>
                </c:pt>
              </c:strCache>
            </c:strRef>
          </c:tx>
          <c:spPr>
            <a:solidFill>
              <a:srgbClr val="2DA03A"/>
            </a:solidFill>
          </c:spPr>
          <c:dLbls>
            <c:txPr>
              <a:bodyPr/>
              <a:lstStyle/>
              <a:p>
                <a:pPr>
                  <a:defRPr sz="12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Total Closure Liability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Contingency 35% ($173M)</c:v>
                </c:pt>
              </c:strCache>
            </c:strRef>
          </c:tx>
          <c:spPr>
            <a:solidFill>
              <a:srgbClr val="F5A623"/>
            </a:solidFill>
          </c:spPr>
          <c:dLbls>
            <c:txPr>
              <a:bodyPr/>
              <a:lstStyle/>
              <a:p>
                <a:pPr>
                  <a:defRPr sz="12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Total Closure Liability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Holding Costs 20yr ($233M)</c:v>
                </c:pt>
              </c:strCache>
            </c:strRef>
          </c:tx>
          <c:spPr>
            <a:solidFill>
              <a:srgbClr val="E03A3A"/>
            </a:solidFill>
          </c:spPr>
          <c:dLbls>
            <c:txPr>
              <a:bodyPr/>
              <a:lstStyle/>
              <a:p>
                <a:pPr>
                  <a:defRPr sz="12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Total Closure Liability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233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Decommissioned Mine Emissions (4.68M tCO2e over 20 years)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tCO2e (millions)</c:v>
                </c:pt>
              </c:strCache>
            </c:strRef>
          </c:tx>
          <c:spPr>
            <a:solidFill>
              <a:srgbClr val="2DA03A"/>
            </a:solidFill>
          </c:spPr>
          <c:cat>
            <c:strRef>
              <c:f>Sheet1!$A$2:$A$4</c:f>
              <c:strCache>
                <c:ptCount val="3"/>
                <c:pt idx="0">
                  <c:v>Unmanaged
Emissions</c:v>
                </c:pt>
                <c:pt idx="1">
                  <c:v>With Abatement
(70% reduction)</c:v>
                </c:pt>
                <c:pt idx="2">
                  <c:v>Residual
(30%)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4.68</c:v>
                </c:pt>
                <c:pt idx="1">
                  <c:v>3.28</c:v>
                </c:pt>
                <c:pt idx="2">
                  <c:v>1.4</c:v>
                </c:pt>
              </c:numCache>
            </c:numRef>
          </c:val>
        </c:ser>
        <c:dLbls>
          <c:numFmt formatCode="#,##0.0&quot;M tCO2e&quot;" sourceLinked="0"/>
          <c:txPr>
            <a:bodyPr/>
            <a:lstStyle/>
            <a:p>
              <a:pPr>
                <a:defRPr sz="12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Good morning Board. Today we present our strategic review of Wallaby Mining's life-extension options, closure liability reduction plan, and forward workplan. We have 15 minutes to walk you through our analysis and three recommendations, followed by 5 minutes of Q&amp;A. Let's start with 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Our recommendation is clear: proceed with Brave Blossom through a stage-gated funding model, actively reduce the $900M closure liability by 20%, and implement carbon abatement. The combined NPV is $1.20 billion. Every dollar invested in Brave Blossom defers $1.73 of closure liability. The rest of this presentation substantiates these three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[75s] The financial model shows Brave Blossom generates a standalone NPV of $923 million over a 20-year mine life — corrected from the workbook's $1,320M which was computed with zero capital costs. Capital is $521 million direct, $678 million with 30% contingency, phased across eight years with stage gates. IRR is approximately 52%, well above our 8% hurdle rate. The combined NPV with Springbok is $1.20 billion. All four scenarios remain strongly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[75s] Brave Blossom's SWOT distils to four headlines: strong revenue and infrastructure leverage, but real weaknesses in coal quality and CHPP end-of-life. The dominant threat is federal approval uncertainty on 25% of the mine plan — we mitigate this with early DCCEEW engagement and a parallel state/federal process. Full 11-area SWOT is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The capital-to-liability analysis is the strategic core. $521 million of capital defers $900 million of closure liability — a 1:1.73 ratio. The NPV of that deferral alone is $508 million, exceeding the PV of direct capital by approximately $109 million before any Brave Blossom revenue. The no-go alternative leaves $900 million due with no revenue to offset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The $900 million closure estimate breaks down to $494 million in direct works, $173 million contingency at 35%, and $233 million in 20-year holding costs. The workbook is fully audited — zero arithmetic errors — but our review identified 8 issues and anomalies that present reduction opportunities. Carbon liability adds further exposure: 4.68 million tonnes of CO2e over 20 years post-cessation.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[75s] Our workbook audit identified six SMART-aligned reduction measures totalling $180.3 million — a 20% reduction from the $900 million baseline. The largest is removing a duplicate TSF costing in Domain 2 at up to $43.8 million, followed by reducing contingency from 35% to 25% for $49.4 million. All measures are specific, measurable, achievable, relevant, and time-bound, with implementation timelines starting Q2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Carbon is a growing liability — 4.68 million tonnes over 20 years at prices rising to $200 per tonne. Our third recommendation converts this liability into a revenue stream: extend gas capture post-closure, generate ACCUs from methane destruction, and use bio-sequestration on rehabilitated land. The target is a 70% reduction versus an unmanaged baseline, with the system operational by Q2 2032.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[75s] Beyond Brave Blossom, we assessed three alternatives. Brumby Xanadu is a promising open cut concept — lower capital, potential cashflow bridge — but lacks resource tonnage and capital estimates, so we recommend $5-8 million for PFS. Bronco has rejected all approaches; we maintain strategic optionality and monitor their financial position. Future exploration is low-cost but leaves $900 million due with no revenue offset, so it's a parallel workstream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The forward workplan is stage-gated to manage risk. We commit $20 million for studies and drilling through 2028, then make a go/no-go decision at Gate 1 based on PFS results and federal approval clarity. Only then does the $501 million development capital flow. Parallel workstreams — closure reduction, carbon abatement, Brumby PFS — run concurrently. First coal is targeted for end 2032.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[75s] We evaluated five options. The no-go scenario is explicit: $900 million falls due with no revenue, 800 jobs are lost, and Dustyroo Flats faces economic collapse. Option C — phased go — is incorporated into our Recommendation 1 as stage gates, giving us the optionality of a phased approach with the revenue of a full go. Our decision: go, stage-gated.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Each recommendation carries risks we've assessed honestly. The dominant risk is federal approval uncertainty on 25% of Brave Blossom's mine plan — mitigated by early engagement and a fallback to mine only within the ML boundary, reducing life from 20 to 15 years. Closure reduction risk is low — we start with the highest-confidence measure. Carbon abatement leverages existing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[45s] This integrated timeline shows all three recommendations running in parallel. Studies and closure reduction start immediately in 2027. Gate 1 at end 2028 is our first go/no-go decision. First coal in 2032, gas capture operational by Q2 2032, and progressive lease relinquishment from 2035.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[60s] To summarise: we recommend proceeding with Brave Blossom through stage gates, reducing closure liability by $180.3 million, and implementing carbon abatement. Combined NPV is $1.20 billion. We ask the board to approve $20 million in studies funding, endorse the closure reduction program, and support carbon abatement design. We welcome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for Q&amp;A. Full 11-area SWOT with S/W/O/T for Brave Blossom (Option A) from analysis file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for Q&amp;A. Substantiates the $180.3M closure reduction with audit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for Q&amp;A. Full capital breakdown by year and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for Q&amp;A. Full 11-area SWOT for Brumby Open Cut (Option C) from analysis file 04. Concept-stage — requires PFS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for Q&amp;A. Full 11-area SWOT for Bronco Acquisition (Option D) from analysis file 04. Strategic optionality — monitor and maintain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for Q&amp;A. Full 11-area SWOT for Future Exploration (Option E) from analysis file 04. Not recommended as standalone — parallel workstream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for Q&amp;A. Full 11-area SWOT for No-Go / Do Nothing (Option B) from analysis file 05. Rejected as standalone strategy — value destruction.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for Q&amp;A. Full carbon modelling detail. Use for board ESG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Wallaby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F37"/>
                </a:solidFill>
              </a:defRPr>
            </a:pPr>
            <a:r>
              <a:t>2026 Strategic Review: Life Extension, Liability Reduction &amp; Forward Workplan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474720"/>
            <a:ext cx="57607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B0C8"/>
                </a:solidFill>
              </a:defRPr>
            </a:pPr>
            <a:r>
              <a:t>Prepared for the Wallaby Mining Board of Directors  |  Waratah Resources JV (60% WM)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233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B0C8"/>
                </a:solidFill>
              </a:defRPr>
            </a:pPr>
            <a:r>
              <a:t>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120640"/>
            <a:ext cx="2468880" cy="640080"/>
          </a:xfrm>
          <a:prstGeom prst="rect">
            <a:avLst/>
          </a:prstGeom>
          <a:solidFill>
            <a:srgbClr val="1A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Section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94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0C8"/>
                </a:solidFill>
              </a:defRPr>
            </a:pPr>
            <a:r>
              <a:t>Valuation &amp; SWOT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5120640"/>
            <a:ext cx="2468880" cy="640080"/>
          </a:xfrm>
          <a:prstGeom prst="rect">
            <a:avLst/>
          </a:prstGeom>
          <a:solidFill>
            <a:srgbClr val="1A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Section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394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0C8"/>
                </a:solidFill>
              </a:defRPr>
            </a:pPr>
            <a:r>
              <a:t>Liability Reduction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5120640"/>
            <a:ext cx="2468880" cy="640080"/>
          </a:xfrm>
          <a:prstGeom prst="rect">
            <a:avLst/>
          </a:prstGeom>
          <a:solidFill>
            <a:srgbClr val="1A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Section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394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0C8"/>
                </a:solidFill>
              </a:defRPr>
            </a:pPr>
            <a:r>
              <a:t>Other Projects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5120640"/>
            <a:ext cx="2468880" cy="640080"/>
          </a:xfrm>
          <a:prstGeom prst="rect">
            <a:avLst/>
          </a:prstGeom>
          <a:solidFill>
            <a:srgbClr val="1A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F37"/>
                </a:solidFill>
              </a:defRPr>
            </a:pPr>
            <a:r>
              <a:t>Section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5394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B0C8"/>
                </a:solidFill>
              </a:defRPr>
            </a:pPr>
            <a:r>
              <a:t>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</a:defRPr>
            </a:pPr>
            <a:r>
              <a:t>RECOMMENDATION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Our Three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3474720" cy="9144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$1,203M</a:t>
            </a:r>
            <a:br/>
            <a:r>
              <a:t>Combined NPV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914400"/>
            <a:ext cx="3474720" cy="91440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960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$180M</a:t>
            </a:r>
            <a:br/>
            <a:r>
              <a:t>Closure Reduction (20%)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914400"/>
            <a:ext cx="3474720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960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$20M</a:t>
            </a:r>
            <a:br/>
            <a:r>
              <a:t>Stage 1 Funding 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3657600" cy="3474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365760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REC 1: Stage-Gated Brave Blossom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Progress via stage gates: $20M PFS (2027-28), full $521M gated on PFS + federal approval outcomes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3291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</a:defRPr>
            </a:pPr>
            <a:r>
              <a:t>NPV: $923M standalone</a:t>
            </a:r>
            <a:br/>
            <a:r>
              <a:t>IRR: ~52% (est.)</a:t>
            </a:r>
            <a:br/>
            <a:r>
              <a:t>1:1.73 capital-to-liability ratio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103120"/>
            <a:ext cx="3657600" cy="3474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2103120"/>
            <a:ext cx="3657600" cy="50292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REC 2: Optimise Closure 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6 SMART measures targeting $180.3M (20%) reduction from $900M baseline by end 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4206240"/>
            <a:ext cx="3291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297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A03A"/>
                </a:solidFill>
              </a:defRPr>
            </a:pPr>
            <a:r>
              <a:t>Target: $180.3M (20%)</a:t>
            </a:r>
            <a:br/>
            <a:r>
              <a:t>6 SMART targets</a:t>
            </a:r>
            <a:br/>
            <a:r>
              <a:t>All implementable by end 2027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103120"/>
            <a:ext cx="3657600" cy="3474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103120"/>
            <a:ext cx="36576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REC 3: Carbon Abatement &amp; Gas Monetisation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70% reduction in decommissioned mine emissions; gas capture system operational Q2 2032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4206240"/>
            <a:ext cx="3291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4297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</a:defRPr>
            </a:pPr>
            <a:r>
              <a:t>$14.1M cost -&gt; revenue</a:t>
            </a:r>
            <a:br/>
            <a:r>
              <a:t>70% emissions abatement</a:t>
            </a:r>
            <a:br/>
            <a:r>
              <a:t>ACCUs from methane capture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B3D"/>
                </a:solidFill>
              </a:defRPr>
            </a:pPr>
            <a:r>
              <a:t>Bottom line: Every $1 invested in Brave Blossom defers $1.73 of closure liability. Combined NPV $1,203M across all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ACC"/>
                </a:solidFill>
              </a:defRPr>
            </a:pPr>
            <a:r>
              <a:t>Section 1: Brave Blossom Valuation &amp; 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Valuation: NPV, IRR &amp; Capital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005840"/>
          <a:ext cx="5029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0" y="1005840"/>
          <a:ext cx="5943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38328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Discount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8% (workbook Assumptions sheet)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FX rate (USD:AUD)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0.69 (flat from 2026+)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PHCC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USD $240/t (AUD ~$348/t)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BB realised price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USD $211.20/t (12% quality discount)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Carbon scenario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Accelerated Transition: $45-&gt;$200/t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Capital (direct)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$521.2M (24 equipment-level items)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Capital (risked, 30% cont.)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$677.6M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IRR (estimated)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~52% (with capital, 30% cont.)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114800"/>
            <a:ext cx="502920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Revenue Profile (steady state)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Annual revenue: AUD $1,652M p.a. (2033-2048)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Total ROM: 142.6Mt (development 5.8Mt + longwall 136.8Mt)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Saleable product: 96.8Mt (100% PHCC at 88% benchmark)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CHPP yield: 68% steady-state (48% during ramp)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Mine life: 20 years (2033-2052)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4114800"/>
            <a:ext cx="594360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42062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NPV Sensitivity (all scenarios positive)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600" y="4480560"/>
          <a:ext cx="55778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Capital ($M)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NPV ($M)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No contingency + tax shield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30% contingency + tax shield (BASE)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678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923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No contingency, no tax shield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30% contingency, no tax shield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678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785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ACC"/>
                </a:solidFill>
              </a:defRPr>
            </a:pPr>
            <a:r>
              <a:t>Section 1: Brave Blossom Valuation &amp; 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Brave Blossom SWOT Matrix (11 Areas Condensed)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241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20-year revenue extension (2033-2052)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Known coal measures (Mentelle 5 seam)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Leverages existing CHPP, rail, port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Retains 800+ workforce and community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0241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WEAKNESSES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Coal quality deterioration (12% price discount)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CHPP end-of-life 2032 ($24M EPCM needed)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25% of mine plan on MDL (federal approval)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80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Long lead time (first coal ~2033)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49039"/>
            <a:ext cx="5486400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6732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51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Progressive rehab during mine life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091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Gas drainage monetisation post-closure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66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Rail/port contract renewal (6mtpa before 2028)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5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MDL -&gt; ML conversion for 25% of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749039"/>
            <a:ext cx="54864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749039"/>
            <a:ext cx="5486400" cy="365760"/>
          </a:xfrm>
          <a:prstGeom prst="rect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76732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THREATS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51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Federal approval uncertainty (DCCEEW)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091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Geotechnical risk (monocline, historic workings)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166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Carbon cost escalation ($45 -&gt; $200/t)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62355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• Competing mines on rail line from 2028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137160"/>
            <a:ext cx="2286000" cy="32004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11 SWOT areas covered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ACC"/>
                </a:solidFill>
              </a:defRPr>
            </a:pPr>
            <a:r>
              <a:t>Section 1: Brave Blossom Valuation &amp; 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Capital-to-Liability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560320" cy="1371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256032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CC"/>
                </a:solidFill>
              </a:defRPr>
            </a:pPr>
            <a:r>
              <a:t>$521M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Direct capital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914400"/>
            <a:ext cx="2560320" cy="1371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914400"/>
            <a:ext cx="2560320" cy="54864"/>
          </a:xfrm>
          <a:prstGeom prst="rect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051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03A3A"/>
                </a:solidFill>
              </a:defRPr>
            </a:pPr>
            <a:r>
              <a:t>$900M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Closure liability deferred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914400"/>
            <a:ext cx="2560320" cy="1371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14400"/>
            <a:ext cx="2560320" cy="54864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051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A03A"/>
                </a:solidFill>
              </a:defRPr>
            </a:pPr>
            <a:r>
              <a:t>1:1.73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$1 capital defers $1.73 closure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914400"/>
            <a:ext cx="2560320" cy="1371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914400"/>
            <a:ext cx="25603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051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$508M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NPV of deferral (7%, 20yr)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56032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17920" y="25603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188720"/>
                <a:gridCol w="118872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Capital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Closure Impact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A: Full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$521M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20yr (2033-52)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$900M deferred 20yr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RECOMMENDED (stage-gated)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B: No-Go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$900M due 2031-50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REJECTED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C: Phased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$20M studies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Conditional deferral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Incorporated into Rec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6217920" y="4572000"/>
            <a:ext cx="5486400" cy="13716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3A3A"/>
                </a:solidFill>
              </a:defRPr>
            </a:pPr>
            <a:r>
              <a:t>No-Go (Option B): $900M closure due 2031-2050 with zero revenue offset.</a:t>
            </a:r>
            <a:br/>
            <a:r>
              <a:t>800+ jobs lost. Dustyroo Flats economic collapse.</a:t>
            </a:r>
            <a:br/>
            <a:r>
              <a:t>WM becomes a closure management company.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Sensitivity: realised price +/-5% = material NPV impact. Carbon cost and CHPP yield are secondary drivers.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A03A"/>
                </a:solidFill>
              </a:defRPr>
            </a:pPr>
            <a:r>
              <a:t>Section 2: Post-Mining Liability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$900M Closure Liability Breakdown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00584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0" y="100584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$M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 of $900M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Pits &amp; Voids (Domain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216.5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Tailings (Domain 2)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126.4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14.0%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Holding Costs (20yr)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Contingency (35%)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19.2%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Infrastructure (Domain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74.4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Other domains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76.7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8.5%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760720" y="3474720"/>
            <a:ext cx="594360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35661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Carbon 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84048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Decommissioned mine emissions: 4.68M tCO2e over ~20 years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Springbok: 1.6M tCO2e above baseline (5 years)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Brave Blossom: 20.1M tCO2e above baseline (20 years)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Carbon price: $45/t (2026) -&gt; $200/t (2075)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Safeguard Mechanism: &gt;100,000 tCO2e/yr triggers regulation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89120"/>
            <a:ext cx="5029200" cy="1371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Workbook Audit: 284 line items, 9 domains, 296 unit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DA03A"/>
                </a:solidFill>
              </a:defRPr>
            </a:pPr>
            <a:r>
              <a:t>0 arithmetic errors — fully verified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8 issues/anomalies identified -&gt; reduction opportunities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Target: all recommendations implementable by end of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A03A"/>
                </a:solidFill>
              </a:defRPr>
            </a:pPr>
            <a:r>
              <a:t>Section 2: Post-Mining Liability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6 SMART Reduction Measures: $180.3M (20%)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029200" cy="731520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$900M -&gt; $719.7M  |  6 SMART targets  |  20% reduction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00400"/>
                <a:gridCol w="1188720"/>
                <a:gridCol w="1097280"/>
                <a:gridCol w="137160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SMART Target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Saving ($M)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 of $900M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Remove duplicate TSF costing (Domain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39.5-43.8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4.4-4.9%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Q2-Q3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Reduce contingency 35%-&gt;25%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49.4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5.5%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Q4 2027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House sale vs demolition (505 houses)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2027-2029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Accelerate progressive rehab ($2.5-&gt;$5M/yr)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11.2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2027-2031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Progressive lease relinquishment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First app 2035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Monetise gas drainage post-closure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14.1-&gt;rev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1.6%+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Q2 2032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180.3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120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B3D"/>
                </a:solidFill>
              </a:defRPr>
            </a:pPr>
            <a:r>
              <a:t>Implementation Timeline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94960"/>
            <a:ext cx="7315200" cy="54864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349240"/>
            <a:ext cx="109728" cy="109728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Q2 2027</a:t>
            </a:r>
            <a:br/>
            <a:r>
              <a:t>TSF removal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39112" y="5349240"/>
            <a:ext cx="109728" cy="109728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3352" y="5486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Q4 2027</a:t>
            </a:r>
            <a:br/>
            <a:r>
              <a:t>Conting. reduction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5264" y="5349240"/>
            <a:ext cx="109728" cy="109728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9504" y="5486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2029</a:t>
            </a:r>
            <a:br/>
            <a:r>
              <a:t>House sale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1416" y="5349240"/>
            <a:ext cx="109728" cy="109728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05656" y="5486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2031</a:t>
            </a:r>
            <a:br/>
            <a:r>
              <a:t>Progress. rehab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87568" y="5349240"/>
            <a:ext cx="109728" cy="109728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1808" y="5486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Q2 2032</a:t>
            </a:r>
            <a:br/>
            <a:r>
              <a:t>Gas monet.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5349240"/>
            <a:ext cx="109728" cy="109728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486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2035</a:t>
            </a:r>
            <a:br/>
            <a:r>
              <a:t>Lease relinqu.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828800"/>
            <a:ext cx="3657600" cy="3200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Before / After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3A3A"/>
                </a:solidFill>
              </a:defRPr>
            </a:pPr>
            <a:r>
              <a:t>Before: $900M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743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A03A"/>
                </a:solidFill>
              </a:defRPr>
            </a:pPr>
            <a:r>
              <a:t>After: $719.7M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200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B3D"/>
                </a:solidFill>
              </a:defRPr>
            </a:pPr>
            <a:r>
              <a:t>Saving: $180.3M (20%)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8404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DA03A"/>
                </a:solidFill>
              </a:defRPr>
            </a:pPr>
            <a:r>
              <a:t>S - Specific (line-item-level)</a:t>
            </a:r>
          </a:p>
          <a:p>
            <a:pPr>
              <a:spcAft>
                <a:spcPts val="400"/>
              </a:spcAft>
              <a:defRPr sz="1100" b="1">
                <a:solidFill>
                  <a:srgbClr val="2DA03A"/>
                </a:solidFill>
              </a:defRPr>
            </a:pPr>
            <a:r>
              <a:t>M - Measurable ($180.3M)</a:t>
            </a:r>
          </a:p>
          <a:p>
            <a:pPr>
              <a:spcAft>
                <a:spcPts val="400"/>
              </a:spcAft>
              <a:defRPr sz="1100" b="1">
                <a:solidFill>
                  <a:srgbClr val="2DA03A"/>
                </a:solidFill>
              </a:defRPr>
            </a:pPr>
            <a:r>
              <a:t>A - Achievable (current revenue)</a:t>
            </a:r>
          </a:p>
          <a:p>
            <a:pPr>
              <a:spcAft>
                <a:spcPts val="400"/>
              </a:spcAft>
              <a:defRPr sz="1100" b="1">
                <a:solidFill>
                  <a:srgbClr val="2DA03A"/>
                </a:solidFill>
              </a:defRPr>
            </a:pPr>
            <a:r>
              <a:t>R - Relevant (board objective)</a:t>
            </a:r>
          </a:p>
          <a:p>
            <a:pPr>
              <a:spcAft>
                <a:spcPts val="400"/>
              </a:spcAft>
              <a:defRPr sz="1100" b="1">
                <a:solidFill>
                  <a:srgbClr val="2DA03A"/>
                </a:solidFill>
              </a:defRPr>
            </a:pPr>
            <a:r>
              <a:t>T - Time-bound (end 2027)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A03A"/>
                </a:solidFill>
              </a:defRPr>
            </a:pPr>
            <a:r>
              <a:t>Section 2: Post-Mining Liability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Carbon Abatement &amp; Gas Monetisation (Rec 3)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005840"/>
          <a:ext cx="5029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760720" y="1005840"/>
            <a:ext cx="5943600" cy="2743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0972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Abatement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41732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1. Extend gas offsite agreement (methane within contract specs)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2. Install post-closure gas capture &amp; flaring infrastructure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3. Generate ACCUs from methane capture/destruction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4. Model Safeguard Mechanism baseline -&gt; abatement pathway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5. Explore flooding sealed workings to suppress emissions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6. Reforestation/vegetation on rehabilitated land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DA03A"/>
                </a:solidFill>
              </a:defRPr>
            </a:pPr>
            <a:r>
              <a:t>SMART target: 70% reduction vs unmanaged baseline</a:t>
            </a:r>
          </a:p>
          <a:p>
            <a:pPr>
              <a:spcAft>
                <a:spcPts val="400"/>
              </a:spcAft>
              <a:defRPr sz="1300" b="1">
                <a:solidFill>
                  <a:srgbClr val="2DA03A"/>
                </a:solidFill>
              </a:defRPr>
            </a:pPr>
            <a:r>
              <a:t>System operational: Q2 2032 (6 months post-cessation)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486400" cy="2468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Carbon Price Sensitivity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4297680"/>
          <a:ext cx="51206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Carbon Price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Unmanaged Liability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With 70% Abatement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$45/t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~$211M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~$63M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$100/t (mid-range)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~$468M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~$140M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$200/t (2075 cap)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~$936M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~$281M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217920" y="3931920"/>
            <a:ext cx="5486400" cy="2468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A03A"/>
                </a:solidFill>
              </a:defRPr>
            </a:pPr>
            <a:r>
              <a:t>Cost -&gt; Revenue 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DA03A"/>
                </a:solidFill>
              </a:defRPr>
            </a:pPr>
            <a:r>
              <a:t>$14.1M gas drainage cost -&gt; revenue stream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ACCU generation from methane destruction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Gas infrastructure required for safety (outburst mitigation)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Incremental cost of post-closure extension is marginal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Dual-purpose investment: safety +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ACC"/>
                </a:solidFill>
              </a:defRPr>
            </a:pPr>
            <a:r>
              <a:t>Section 3: Other Projects &amp; Forward Workplan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Other Projects: Brumby, Bronco &amp; Future Exploration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3657600" cy="5029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3657600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Brumby Open Cut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Xanadu seam, 1.5Mtpa, 25km 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474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CC"/>
                </a:solidFill>
              </a:defRPr>
            </a:pPr>
            <a:r>
              <a:t>PFS RECOMMENDED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70/30 GCN thermal / PHCC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Low strip ratio (4.5-4.9 bcm/t historic)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Cashflow bridge (2031-2033 gap)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Lower capital than BB; known geological analog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Gaps: no resource tonnage, no capital estimate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PFS funding: $5-8M recommended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914400"/>
            <a:ext cx="3657600" cy="5029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914400"/>
            <a:ext cx="365760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960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Bronco Acquisition (Option 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Adjacent lease ML1654, resource extends from Springbok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1828800"/>
            <a:ext cx="3474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240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Repeatedly rejected all approaches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Resource extends from Springbok seam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154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Maintain strategic optionality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611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Dual-track: monitor + Brumby PFS may strengthen 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Financial struggles may force future sale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26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No resource/quality/strip ratio data available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914400"/>
            <a:ext cx="3657600" cy="5029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914400"/>
            <a:ext cx="3657600" cy="8229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960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Future Exploration (Option 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$5-10M low-cost exploration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828800"/>
            <a:ext cx="3474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B7280"/>
                </a:solidFill>
              </a:defRPr>
            </a:pPr>
            <a:r>
              <a:t>PARALLEL WORKSTREAM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240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Post-2052 revenue potential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$900M still due 2031-2050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154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Not recommended as standalone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611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Include as parallel workstream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Does not solve closure timing problem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526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• Defers revenue too far into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ACC"/>
                </a:solidFill>
              </a:defRPr>
            </a:pPr>
            <a:r>
              <a:t>Section 3: Other Projects &amp; Forward Workplan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Forward Workplan &amp; Stage Gates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8686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029200"/>
                <a:gridCol w="914400"/>
                <a:gridCol w="210312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Capital ($M)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PFS, exploration drilling, federal approval engagement, gas contract negotiation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PFS completion, resource definition, CHPP life extension study, rail/port negotiation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GATE 1: PFS results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Ventilation shafts, drift construction, mine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Development continues, approvals finalised, longwall ordered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GATE 2: Approvals secured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Mining equipment, ROM bin, conveyors, UG conveyor relocation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2032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Longwall delivery, CHPP EPCM, ROM bin, commissioning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GATE 3: First coal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2033-34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CHPP EPCM completion, ramp to full production ~6mtpa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326880" y="914400"/>
            <a:ext cx="2377440" cy="4114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05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B3D"/>
                </a:solidFill>
              </a:defRPr>
            </a:pPr>
            <a:r>
              <a:t>Parallel Workstreams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3716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DA03A"/>
                </a:solidFill>
              </a:defRPr>
            </a:pPr>
            <a:r>
              <a:t>Closure SMART measures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(6 targets, $180.3M)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F5A623"/>
                </a:solidFill>
              </a:defRPr>
            </a:pPr>
            <a:r>
              <a:t>Carbon abatement design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(gas capture, ACCUs)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007ACC"/>
                </a:solidFill>
              </a:defRPr>
            </a:pPr>
            <a:r>
              <a:t>Brumby PFS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($5-8M)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6B7280"/>
                </a:solidFill>
              </a:defRPr>
            </a:pPr>
            <a:r>
              <a:t>Exploration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($5-10M)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12080"/>
            <a:ext cx="8686800" cy="9144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Total forward work plan: $20M before Gate 1 decision  |  Total capital (direct): $521.2M  |  Risked (30% cont.): $677.6M</a:t>
            </a:r>
            <a:br/>
            <a:r>
              <a:t>Only $20M committed before PFS results and approval pathway are confirmed.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</a:defRPr>
            </a:pPr>
            <a:r>
              <a:t>Section 4: Go/No-Go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Option Comparison &amp; Decision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1188720"/>
                <a:gridCol w="1371600"/>
                <a:gridCol w="73152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Capital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Closure Impact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A: Brave Blossom Full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$521M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20yr (2033-52)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$900M deferred 20yr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RECOMMENDED (stage-gated)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B: No-Go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$900M due 2031-50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Low (exec)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REJECTED (value destruction)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C: Phased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$20M studies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Incorporated into Rec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D: Bronco Acquisition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Partial deferral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MONITOR (strategic option)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E: Future Projects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$5-10M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Post-2052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$900M due 2031-50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Parallel workstream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961120" y="914400"/>
            <a:ext cx="2743200" cy="27432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005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A3A"/>
                </a:solidFill>
              </a:defRPr>
            </a:pPr>
            <a:r>
              <a:t>No-Go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371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03A3A"/>
                </a:solidFill>
              </a:defRPr>
            </a:pPr>
            <a:r>
              <a:t>$900M closure due</a:t>
            </a:r>
          </a:p>
          <a:p>
            <a:pPr>
              <a:spcAft>
                <a:spcPts val="400"/>
              </a:spcAft>
              <a:defRPr sz="1200" b="1">
                <a:solidFill>
                  <a:srgbClr val="E03A3A"/>
                </a:solidFill>
              </a:defRPr>
            </a:pPr>
            <a:r>
              <a:t>800+ jobs lost</a:t>
            </a:r>
          </a:p>
          <a:p>
            <a:pPr>
              <a:spcAft>
                <a:spcPts val="400"/>
              </a:spcAft>
              <a:defRPr sz="1200" b="1">
                <a:solidFill>
                  <a:srgbClr val="E03A3A"/>
                </a:solidFill>
              </a:defRPr>
            </a:pPr>
            <a:r>
              <a:t>Dustyroo Flats collapse</a:t>
            </a:r>
          </a:p>
          <a:p>
            <a:pPr>
              <a:spcAft>
                <a:spcPts val="400"/>
              </a:spcAft>
              <a:defRPr sz="1200" b="1">
                <a:solidFill>
                  <a:srgbClr val="E03A3A"/>
                </a:solidFill>
              </a:defRPr>
            </a:pPr>
            <a:r>
              <a:t>WM = closure mgmt co.</a:t>
            </a:r>
          </a:p>
          <a:p>
            <a:pPr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No revenue offset</a:t>
            </a:r>
          </a:p>
          <a:p>
            <a:pPr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Workforce dispersal</a:t>
            </a:r>
          </a:p>
          <a:p>
            <a:pPr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Cannot rebuild for future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48640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A03A"/>
                </a:solidFill>
              </a:defRPr>
            </a:pPr>
            <a:r>
              <a:t>Decision: GO — Stage-Gated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B3D"/>
                </a:solidFill>
              </a:defRPr>
            </a:pPr>
            <a:r>
              <a:t>Combines optionality of C with revenue of A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$20M Stage 1 -&gt; Gate 1 -&gt; Gate 2 -&gt; Gate 3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Major capital only after approvals confirmed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Stage gates protect against binary risks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48640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Federal Approval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5A623"/>
                </a:solidFill>
              </a:defRPr>
            </a:pPr>
            <a:r>
              <a:t>If 25% on MDL fails -&gt; mine only 75% within ML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Mine life: 20yr -&gt; ~15yr (75% of plan)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NPV still strongly positive at ~15yr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75% within ML has state approval already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Early DCCEEW engagement de-risks pathway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</a:defRPr>
            </a:pPr>
            <a:r>
              <a:t>Section 4: Go/No-Go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Risks &amp; Mitigation per Recommendation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4114800"/>
                <a:gridCol w="137160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 Risk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Residual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1. Stage-gated Brave Blossom
(NPV $923M, IRR ~52%)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Federal approval uncertainty</a:t>
                      </a:r>
                    </a:p>
                    <a:p>
                      <a:r>
                        <a:t>(25% of mine plan on MDL)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Early DCCEEW engagement (2027)</a:t>
                      </a:r>
                    </a:p>
                    <a:p>
                      <a:r>
                        <a:t>Parallel state/federal process</a:t>
                      </a:r>
                    </a:p>
                    <a:p>
                      <a:r>
                        <a:t>Fallback: 75% within ML = ~15yr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2. Optimise closure liability</a:t>
                      </a:r>
                    </a:p>
                    <a:p>
                      <a:r>
                        <a:t>($180.3M / 20% reduction)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Independent review may</a:t>
                      </a:r>
                    </a:p>
                    <a:p>
                      <a:r>
                        <a:t>confirm $900M estimate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Start with highest-confidence item</a:t>
                      </a:r>
                    </a:p>
                    <a:p>
                      <a:r>
                        <a:t>(Duplicate TSF removal, $39.5-43.8M)</a:t>
                      </a:r>
                    </a:p>
                    <a:p>
                      <a:r>
                        <a:t>Phase implementation across 2027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3. Carbon abatement</a:t>
                      </a:r>
                    </a:p>
                    <a:p>
                      <a:r>
                        <a:t>(70% emissions reduction)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Gas capture infrastructure</a:t>
                      </a:r>
                    </a:p>
                    <a:p>
                      <a:r>
                        <a:t>cost and timeline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Existing drainage infrastructure extends</a:t>
                      </a:r>
                    </a:p>
                    <a:p>
                      <a:r>
                        <a:t>SMART target Q2 2032 achievable</a:t>
                      </a:r>
                    </a:p>
                    <a:p>
                      <a:r>
                        <a:t>ACCU revenue offsets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297680"/>
            <a:ext cx="11247120" cy="1828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Cross-Cutting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• Coal quality deterioration — 12% discount may widen; PFS drilling will quantify ($10M in Stage 1)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• Rail/port capacity — 4mtpa current vs 6mtpa needed; 2027 renewal window; 2 competing mines from 2028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• CHPP end-of-life 2032 — $24M EPCM in capital plan; design capacity matches BB ROM target (8Mt/yr feed)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• Labour market — 2 new competing mines from 2028; 2-year gap risk (2031-2033)</a:t>
            </a:r>
          </a:p>
          <a:p>
            <a:pPr>
              <a:spcAft>
                <a:spcPts val="400"/>
              </a:spcAft>
              <a:defRPr sz="1100" b="1">
                <a:solidFill>
                  <a:srgbClr val="2DA03A"/>
                </a:solidFill>
              </a:defRPr>
            </a:pPr>
            <a:r>
              <a:t>Each recommendation has resultant cashflow analysis and implementation risk assessment per brief requirements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</a:defRPr>
            </a:pPr>
            <a:r>
              <a:t>Section 4: Go/No-Go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Integrated Timeline &amp; Milestones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474720"/>
                <a:gridCol w="347472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Brave Blossom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Closure Reduction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Carbon Abatement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PFS + drilling ($132M)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SMART #1-4 commence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Gas contract negotiation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Gate 1: PFS results ($95M)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Revised estimate Q4 ($180.3M target)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Abatement design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2029-30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BB development ($167M)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Progressive rehab accelerated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Brumby PFS ($5-8M)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Springbok closure; BB equipment ($64M)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Lease relinquishment prep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Gate 3: First coal; Equipment ($59M)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Gas capture operational 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2033+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Full production 6mtpa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Lease relinquishment (first app 2035)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Carbon revenue stream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</a:defRPr>
            </a:pPr>
            <a:r>
              <a:t>Stage Gates — Major capital gated on study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Gate 1 (end 2028): PFS results, approval pathway clarity, updated resource -&gt; Go/No-Go decision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Gate 2 (end 2030): Federal approvals secured, CHPP committed, rail/port 6mtpa confirmed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Gate 3 (end 2032): First coal — longwall operational, CHPP EPCM complete, ramp to 6mtpa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Reflects early-stage nature: major capital gated, studies-first approach, $20M committed before Gate 1 decision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Closing &amp; Q&amp;A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9418320" cy="2286000"/>
          </a:xfrm>
          <a:prstGeom prst="rect">
            <a:avLst/>
          </a:prstGeom>
          <a:solidFill>
            <a:srgbClr val="1A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280160"/>
            <a:ext cx="8869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869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3 Recommendations: Stage-gated Brave Blossom | Closure liability reduction | Carbon abatement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Combined NPV: $1,203M  |  Closure reduction: $180.3M (20%)  |  Stage 1 ask: $20M</a:t>
            </a:r>
          </a:p>
          <a:p>
            <a:pPr>
              <a:spcAft>
                <a:spcPts val="400"/>
              </a:spcAft>
              <a:defRPr sz="1300" b="0">
                <a:solidFill>
                  <a:srgbClr val="A0B0C8"/>
                </a:solidFill>
              </a:defRPr>
            </a:pPr>
            <a:r>
              <a:t>1:1.73 capital-to-liability ratio — $1 invested defers $1.73 of closure</a:t>
            </a:r>
          </a:p>
          <a:p>
            <a:pPr>
              <a:spcAft>
                <a:spcPts val="400"/>
              </a:spcAft>
              <a:defRPr sz="1300" b="0">
                <a:solidFill>
                  <a:srgbClr val="A0B0C8"/>
                </a:solidFill>
              </a:defRPr>
            </a:pPr>
            <a:r>
              <a:t>All scenarios positive ($785M-$1,015M); IRR ~52% (well above 8% hurdle)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</a:defRPr>
            </a:pPr>
            <a:r>
              <a:t>Key Asks from the Board: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1. Approve $20M studies funding for 2027-2028 (Gate 1 decision end 2028)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3891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2. Endorse closure liability reduction program (6 SMART measures, $180.3M target)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7548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3. Support carbon abatement design and gas contract extension negotiation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1206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4. Note Brumby PFS and Bronco monitoring as parallel workstreams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669280"/>
            <a:ext cx="9418320" cy="548640"/>
          </a:xfrm>
          <a:prstGeom prst="rect">
            <a:avLst/>
          </a:prstGeom>
          <a:solidFill>
            <a:srgbClr val="1A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571500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</a:defRPr>
            </a:pPr>
            <a:r>
              <a:t>Appendix slides A1-A8 available for Q&amp;A deep-dives  |  We welcome your questions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Brave Blossom SWOT — All 11 Areas (S/W/O/T)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9144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  <a:gridCol w="2377440"/>
                <a:gridCol w="2377440"/>
                <a:gridCol w="237744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Weaknesses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Opportunities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Threats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 Mine plan &amp; coal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20yr life, 142Mt ROM, known Blackwater measures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12% quality discount, yield 68%, realised $211/t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PFS may improve quality; stage-gated go/no-go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Market decline; quality may worsen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 Infrastructure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Leverages existing CHPP/rail/port, 4→6 mtpa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CHPP end-of-life 2032, $24M EPCM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CHPP repurposing; shared infra with Brumby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Rail capacity lost if 2028 renewal missed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 Equipment suitability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Longwall transferable from Springbok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18-24mo lead time, $300M roof supports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New equipment attracts workforce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Cost escalation +30%; supply chain delays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4. Geological / geotechnical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Same Blackwater Group stratigraphy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Monocline, faulting, historic roof falls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3D seismic + modelling de-risks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Unforeseen conditions in historic workings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5. Approvals / environmental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75% within ML (state approved)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25% on MDL (federal DCCEEW uncertain)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Early engagement; fallback 75% = 15yr life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Federal delay beyond 2030 threatens 2033 coal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6. Carbon liability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Gas drainage infra exists (dual-purpose)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20.1M tCO2e above baseline; $200M+ cost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Methane capture → ACCU revenue + gas sales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Carbon price may exceed modelled; reforms 2027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7. Deliverability /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Stage-gated (3 gates), Stage 1 only $20M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6yr dev window, limited float, concurrent 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Go/no-go at each gate; tech advances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Must start 2027; delays 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8. Financial implications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NPV $923M, IRR ~52%, all scenarios positive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$521M capital, peak $132M in 2027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Stage-gated limits initial to $20M; DCF +ve 2032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Price decline; capital escalation; carbon may exceed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9. Labour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~800 staff, skills transferable from Springbok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Owner/contractor unresolved; 2yr gap 2031-33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Owner-op enables long-term skills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Competing mines from 2028; workforce dispersion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10. People / change mgmt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20yr job security, 505 houses retained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Change mgmt complexity; H&amp;S risk in re-entry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Community engagement; training as investment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Media backlash precedent; expectations if cancelled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11. Other board considerations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Social licence; JV customers; $1:$1.73 cap:liability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Federal approval binary; JV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Future targets; Bronco acquisition; ACCU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ESG divestment; regulatory tightening; political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Workbook Audit: 8 Issues &amp; Anomalies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1645920"/>
                <a:gridCol w="1828800"/>
                <a:gridCol w="2743200"/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$ Impact (M)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Duplicate TSF costing (Domain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39.5-43.8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Q2-Q3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Contingency at 35% (above industry 25%)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49.4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Med-High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Q4 2027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House demolition vs sale (505 houses)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2027-2029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Progressive rehab underfunded ($2.5M vs $5M)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11.2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2027-2031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No progressive lease relinquishment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~50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First app 2035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Gas drainage not monetised post-closure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14.1-&gt;rev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Q2 2032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Execution-phase detail missing from workbook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PFS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Outdated rate escalations in rate library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QS review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Source: 2024 Planned Closure Cost workbook audit (vault files 18-19, analysis file 01). 0 arithmetic errors across 284 line items.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Brave Blossom Capital Schedule (Detailed)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With 30% contingency: $677.6M total  |  Peak year 2027: $132M (front-loaded capital)  |  Source: Team Green workbook / capital review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032357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357"/>
                <a:gridCol w="1032357"/>
                <a:gridCol w="1032357"/>
                <a:gridCol w="1032357"/>
                <a:gridCol w="1032357"/>
                <a:gridCol w="1032357"/>
                <a:gridCol w="1032357"/>
                <a:gridCol w="1032357"/>
                <a:gridCol w="1032357"/>
                <a:gridCol w="1032363"/>
              </a:tblGrid>
              <a:tr h="175846">
                <a:tc>
                  <a:txBody>
                    <a:bodyPr/>
                    <a:lstStyle/>
                    <a:p>
                      <a:r>
                        <a:rPr sz="700" b="1"/>
                        <a:t>Capital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Total ($k)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2034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Shearer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CHPP Structural Repairs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CHPP Conveyor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CHPP Raw Coal 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Ventilation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Gas Drainage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x3 Continuous Miners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x300 Roof Supports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x10 DCBs (AFC, BSL,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x4 U/G Substations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x10 HT Cables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AFC (Panline &amp; Chain)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BSL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Drift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x4 Shuttle Cars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x2 Breaker Feeder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x12 Driftrunners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3,600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ROM Stockpile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x8 Jugs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Pump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Monorail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x4 Mobile Fans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Geo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46">
                <a:tc>
                  <a:txBody>
                    <a:bodyPr/>
                    <a:lstStyle/>
                    <a:p>
                      <a:r>
                        <a:rPr sz="600"/>
                        <a:t>Exploration Drilling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/>
                        <a:t>—</a:t>
                      </a:r>
                    </a:p>
                  </a:txBody>
                  <a:tcPr/>
                </a:tc>
              </a:tr>
              <a:tr h="175850">
                <a:tc>
                  <a:txBody>
                    <a:bodyPr/>
                    <a:lstStyle/>
                    <a:p>
                      <a:r>
                        <a:rPr sz="700" b="1"/>
                        <a:t>TOTAL (direct)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521,200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132.05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94.55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83.80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82.80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63.75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59.25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b="1"/>
                        <a:t>2.50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Brumby Open Cut SWOT — All 11 Areas (S/W/O/T)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9144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  <a:gridCol w="2377440"/>
                <a:gridCol w="2377440"/>
                <a:gridCol w="237744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Weaknesses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Opportunities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Threats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 Mine plan &amp; coal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Low strip ratio (4.5-4.9 bcm/t), GCN 6,212-6,290 kcal/kg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70% thermal mix, no Xanadu quality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PFS may reveal thicker/better seam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Thermal coal structural decline; ESG divestment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 Infrastructure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Lower complexity than UG (no shafts/vent)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25km from CHPP; no existing infra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Standalone dry plant for regional projects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25km haul adds $5-10/t; standalone CHPP $50M+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 Equipment suitability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Standard OC equipment available; contract mining viable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existing fleet; Springbok is UG-only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Autonomous haulage from inception; electric trucks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Cost escalation 20-30%; 12-18mo lead times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4. Geological / geotechnical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Lower risk than UG; no monocline/faulting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Resource tonnage unknown; seam unconfirmed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Exploration may find additional seams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Seam thinner/deeper/lower quality than expected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5. Approvals / environmental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Standard EA/ML process if tenement held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New OC faces strong scrutiny; 2-4yr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Progressive rehab; void repurposing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Environmental opposition; native title 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6. Carbon liability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Lower absolute emissions (small scale)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gas capture for OC; Safeguard triggered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Reforestation ACCUs; may stay under threshold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Carbon tax reforms 2027; no abatement pathway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7. Deliverability /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Less complex than UG longwall; faster ramp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Tenement status uncertain; may need acquisition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Combined with Bronco = 3-4 Mtpa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Tenement negotiation adds 1-3yr; Bronco may refuse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8. Financial implications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Lower capital than BB (~$150-250M assumed)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capital estimate, no resource tonnage, no NPV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Lower entry point; thermal upside if Asian demand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Revenue insufficient for standalone; competes with BB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9. Labour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1.5 Mtpa suits contract mining; Springbok redeployable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UG workforce needs retraining; rates escalating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Cross-skilling enhances workforce resilience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Tight labour market; 2× new entrants from 2028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10. People / change mgmt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Minimal housing/roster change from Dustyroo Flats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25km commute; roster patterns differ from UG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Extends employment beyond 2031; transition pathway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Community expectations if ops move to Brumby site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11. Other board considerations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Strategic hedge against BB failure; product diversification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Concept stage only; competes for capital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Positions WM for future M&amp;A; attractive partner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ESG investors view new thermal coal negatively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Bronco Acquisition SWOT — All 11 Areas (S/W/O/T)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9144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  <a:gridCol w="2377440"/>
                <a:gridCol w="2377440"/>
                <a:gridCol w="237744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Weaknesses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Opportunities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Threats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 Mine plan &amp; coal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Resource 'similar to historic Brumby' — known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resource tonnage or quality data; no JORC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Drilling may reveal larger/better resources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May be smaller/lower quality; thermal-heavy mix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 Infrastructure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Adjacent to Springbok ML; leverage existing CHPP/rail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CHPP end-of-life 2032; Bronco infra unknown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Combined CHPP optimisation; 4Mt spare capacity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CHPP capital coincides with acquisition timing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 Equipment suitability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Existing Bronco fleet may transfer; standard OC equip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Equipment age/condition unknown; may need replacement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Fleet optimisation across multiple 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Equipment at end of life; leases may not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4. Geological / geotechnical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Continuation of Springbok coal measures; well-understood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WM drilling data in ML1654; northern geology unknown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Springbok geological model extends to boundary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Faulting/intrusions/thinning in northern portion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5. Approvals / environmental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ML1654 already granted; EA in place; no greenfield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Expansion beyond current EA may trigger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Amending EA faster than new; progressive rehab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Historic disturbances carry transferable rehab 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6. Carbon liability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Small-scale; emissions may be near/below Safeguard threshold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gas capture for OC; higher fugitive intensity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Reforestation on rehab land; ACCUs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Carbon price trajectory; no abatement; Safeguard rising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7. Deliverability /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OC lower complexity; existing operation could continue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Bronco rejected all approaches; negotiation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Bronco financial struggles may force sale; royalty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Bronco may continue refusing; hostile seller limits 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8. Financial implications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Revenue starts immediately if going concern; lower cap than BB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Acquisition price unknown; no resource → no NPV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Combined OC+UG optimises cashflow; funds BB dev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Overpay risk; short mine life; rehab liabilities inherited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9. Labour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Existing Bronco workforce may transfer; proximity allows sharing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Workforce composition unknown; culture clash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Integrated workforce for Brumby+Bronco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Retention uncertain; contractor misalignment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10. People / change mgmt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Preserves jobs at Bronco; community positive narrative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Integration challenges; different systems/standards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Combined ops strengthen Dustyroo Flats economy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Community perception of consolidation; increased activity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11. Other board considerations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Complementary to BB; eliminates northern boundary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Inherits rehab liabilities; ESG concerns with thermal coal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Strategic control; regional consolidation; resolves Brumby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OC faces stronger opposition; higher carbon intensity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Future Exploration (Option E) SWOT — All 11 Areas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9144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  <a:gridCol w="2377440"/>
                <a:gridCol w="2377440"/>
                <a:gridCol w="237744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Weaknesses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Opportunities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Threats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 Mine plan &amp; coal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Freedom to target best-quality coal; historic targets exist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defined resource; everything speculative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May find higher-quality pure HCC (no thermal)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May not find viable coal; best targets already held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 Infrastructure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infra required during exploration (drilling only)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existing infra; greenfield dev $500M+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New project designed with modern efficient infra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Greenfield infra costs more than extending Springbok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 Equipment suitability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Exploration equipment standard and low-cost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Full fleet procurement from scratch when project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Latest technology from inception (autonomous, electric)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Equipment costs may escalate further by 2040s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4. Geological / geotechnical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Bowen Basin well-understood; regional data available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Greenfield high risk; 10-30% target-to-resource rate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3D seismic + advanced modelling de-risks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Complex geology possible in unexplored areas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5. Approvals / environmental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Exploration permits straightforward; minimal 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Future mine requires full approvals — 3-5yr minimum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Low-carbon progressive-rehab mine may fast-track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Regulatory environment prohibitive for new coal by 2040+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6. Carbon liability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operational carbon liability during exploration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Future mine faces $120-200/t carbon; Scope 3 regulated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Designed from inception with abatement; near-zero net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Carbon prices may make new coal mines unviable by 2040+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7. Deliverability /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Exploration programs straightforward; low mgmt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10-16yr lead time: exploration→PFS→approvals→dev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Can partner with exploration companies; parallel to 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20+yr means multiple mgmt cycles; continuity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8. Financial implications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Lowest capital — $5-10M exploration only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$900M closure due 2031-50 with no revenue; NPV negative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Major resource found at exploration cost vs acquisition $100Ms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May yield nothing; WM may not survive 20yr zero-revenue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9. Labour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Small exploration workforce readily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Complete loss of 800+ Springbok mining workforce by 2031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Future project designed for optimal workforce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Cannot rebuild skilled workforce after 20yr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10. People / change mgmt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Minimal workforce impact during exploration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Severe community impact — Dustyroo Flats collapse; 800+ jobs lost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Future mine with community co-design; next generation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Town may not exist by 2040+; community trust destroyed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11. Other board considerations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Maintains WM pipeline; low-regret 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Abandoning mining business for 20+yr; board patience unlikely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May identify non-coal resources; diversifies portfolio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WM may not survive as independent entity; wind-up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No-Go Scenario SWOT — All 11 Areas (S/W/O/T)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9144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  <a:gridCol w="2377440"/>
                <a:gridCol w="2377440"/>
                <a:gridCol w="237744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Weaknesses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Opportunities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Threats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 Mine plan &amp; coal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mine plan needed — cessation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coal extracted; resource sterilised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Resource remains for future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Resource may become stranded 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 Infrastructure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infrastructure development needed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CHPP, TLO, rail contracts written off at cessation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Infra repurposing (pit void, logistics hub)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Infra deteriorates during 20yr idle period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 Equipment suitability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equipment procurement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Existing fleet decommissioned/sold at distressed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Equipment sale generates some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Replacement cost if resuming operations later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4. Geological / geotechnical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geotechnical risk (no mining)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Sealed workings degrade; historic workings inaccessible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N/A — no mining activity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Subsidence from historic workings; groundwater ingress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5. Approvals / environmental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approval risk; no new approvals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Relinquishment target 2050; ongoing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Progressive rehab acceleration; early relinquishment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Regulatory penalties if rehab standards not 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6. Carbon liability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operational emissions (mine ceased)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4.68M tCO2e decommissioned emissions over 20yr (no mitigation)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Reforestation ACCUs on rehabilitated land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Safeguard Mechanism on decommissioned emissions; 20yr unmanaged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7. Deliverability /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Simplest execution path — cessation and rehab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$900M closure due 2031-2050 with no revenue offset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Cost optimisation — audit found $162-180M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Closure execution risk; $900M outflow with no revenue 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8. Financial implications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Zero additional capital; no project execution risk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$0 revenue post-2031; Springbok NPV only $279M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Rehab cost optimisation ($180M savings per audit)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Shareholder value destruction; going concern risk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9. Labour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labour required for mining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800+ jobs lost at cessation; skills permanently dispersed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Workforce transition to closure/rehab roles (limited)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Cannot rebuild workforce for future; skills permanently lost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10. People / change mgmt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Clear timeline (cessation Q4 2031, relinquishment 2050)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Dustyroo Flats economic collapse; community disintegration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Workforce transition programs; community diversification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Media backlash (competing mine precedent); native title issues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11. Other board considerations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No project execution risk; straightforward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WM becomes closure management company; strategic atrophy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All mitigants available under Recommendations 1-3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Supplier chain collapse; WM may not survive as going concern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37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</a:defRPr>
            </a:pPr>
            <a:r>
              <a:t>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B3D"/>
                </a:solidFill>
              </a:defRPr>
            </a:pPr>
            <a:r>
              <a:t>Carbon Liability &amp; Safeguard Mechanism Detail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64592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tCO2e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Above Baseline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Springbok 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2027-2031 (5yr)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Brave Blossom operational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18.9M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2033-2052 (20yr)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20.1M tCO2e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Decommissioned mine (combined)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4.68M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2052-2072 (20yr)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Total Scope 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23.6M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217920" y="914400"/>
            <a:ext cx="548640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Carbon Price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Accelerated Transition: $45/t (2026) -&gt; $200/t (2075)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Modelled in DCF: $12/t (2033) -&gt; $27/t (2050)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Carbon cost in NPV: ~$200M+ over mine life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At $150/t flat: decommissioned liability ~$700M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With 70% abatement: liability reduced to ~$210M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ACCU revenue from methane capture offsets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1124712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</a:defRPr>
            </a:pPr>
            <a:r>
              <a:t>Safeguard Mechanism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B3D"/>
                </a:solidFill>
              </a:defRPr>
            </a:pPr>
            <a:r>
              <a:t>Threshold: &gt;100,000 tCO2e/yr triggers regulation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Springbok baseline: 426k -&gt; 293k tCO2e (2027-2031) — declining hybrid methodology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Brave Blossom baseline: 9,475k -&gt; 0 (2031-2050) — declining over mine life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Above baseline: 20.1M tCO2e over 20 years — material compliance liability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Methodology: NGER Determination Method 3.32 (CH4 emissions from decommissioned mines)</a:t>
            </a:r>
          </a:p>
          <a:p>
            <a:pPr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Risk: baseline tightening or methodology changes increase exposure</a:t>
            </a:r>
          </a:p>
          <a:p>
            <a:pPr>
              <a:spcAft>
                <a:spcPts val="400"/>
              </a:spcAft>
              <a:defRPr sz="1200" b="0">
                <a:solidFill>
                  <a:srgbClr val="2DA03A"/>
                </a:solidFill>
              </a:defRPr>
            </a:pPr>
            <a:r>
              <a:t>Mitigation: Recommendation 3 — gas capture, ACCU generation, 70% abatement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