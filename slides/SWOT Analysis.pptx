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AC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F80"/>
                </a:solidFill>
                <a:latin typeface="Calibri"/>
              </a:rP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B3D"/>
                </a:solidFill>
                <a:latin typeface="Calibri"/>
              </a:rPr>
              <a:t>Brumby Open Cut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Option C: Brumby Open Cut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Low strip ratio (4.5-4.9 bcm/t), GCN 6,212-6,290 kcal/kg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Lower complexity than UG (no shafts/vent); faster ramp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Standard OC equipment available; contract mining viable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Lower absolute emissions (small scale); standard EA/ML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Less complex than UG longwall; 1.5 Mtpa suits contract mining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Minimal housing/roster change from Dustyroo Flats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• Strategic hedge against BB failure; product diversification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70% thermal mix, no Xanadu quality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25km from CHPP; no existing 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existing fleet; Springbok is UG-only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Resource tonnage unknown; seam unconfirmed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New OC faces strong scrutiny; 2-4yr approval process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gas capture for OC; Safeguard Mechanism triggered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Tenement status uncertain; may need acquisition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capital estimate, no resource tonnage, no NPV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UG workforce needs retraining; rates escalating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25km commute; roster patterns differ from UG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Concept stage only; competes for capital with BB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PFS may reveal thicker/better seam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Standalone dry plant for regional projects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Autonomous haulage from inception; electric trucks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Exploration may find additional seams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Progressive rehab; void repurposing options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Reforestation ACCUs; may stay under Safeguard threshold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Combined with Bronco = 3-4 Mtpa regional hub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Lower entry point; thermal upside if Asian demand holds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Cross-skilling enhances workforce resilience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Extends employment beyond 2031; transition pathway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Positions WM for future M&amp;A; attractive partner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Thermal coal structural decline; ESG divestment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25km haul adds $5-10/t; standalone CHPP $50M+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Cost escalation 20-30%; 12-18mo lead times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Seam thinner/deeper/lower quality than expected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Environmental opposition; native title claims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Carbon tax reforms 2027; no abatement pathway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Tenement negotiation adds 1-3yr; Bronco may refuse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Revenue insufficient for standalone; competes with BB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Tight labour market; 2x new entrants from 2028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Community expectations if ops move to Brumby site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ESG investors view new thermal coal negatively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AC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F80"/>
                </a:solidFill>
                <a:latin typeface="Calibri"/>
              </a:rP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B3D"/>
                </a:solidFill>
                <a:latin typeface="Calibri"/>
              </a:rPr>
              <a:t>Bronco Acquisition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Option D: Bronco Acquisition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Resource 'similar to historic Brumby' — known benchmark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Adjacent to Springbok ML; leverage existing CHPP/rail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Existing Bronco fleet may transfer; standard OC equip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Continuation of Springbok coal measures; well-understood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ML1654 already granted; EA in place; no greenfield process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Small-scale; emissions may be near/below Safeguard threshold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OC lower complexity; existing operation could continue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Revenue starts immediately if going concern; lower cap than BB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Existing Bronco workforce may transfer; proximity allows sharing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Preserves jobs at Bronco; community positive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Complementary to BB; eliminates northern boundary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resource tonnage or quality data; no JORC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CHPP end-of-life 2032; Bronco infra unknown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Equipment age/condition unknown; may need replacement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WM drilling data in ML1654; northern geology unknown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Expansion beyond current EA may trigger assessment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gas capture for OC; higher fugitive intensity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Bronco rejected all approaches; negotiation complex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Acquisition price unknown; no resource → no NPV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Workforce composition unknown; culture clash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Integration challenges; different systems/standards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Inherits rehab liabilities; ESG concerns with thermal coal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Drilling may reveal larger/better resources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Combined CHPP optimisation; 4Mt spare capacity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Fleet optimisation across multiple OCs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Springbok geological model extends to boundary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Amending EA faster than new; progressive rehab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Reforestation on rehab land; ACCU generation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Bronco financial struggles may force sale; royalty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Combined OC+UG optimises cashflow; funds BB dev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Integrated workforce for Brumby+Bronco operations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Combined ops strengthen Dustyroo Flats economy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Strategic control; regional consolidation; resolves Brumby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May be smaller/lower quality; thermal-heavy mix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CHPP capital coincides with acquisition timing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Equipment at end of life; leases may not transfer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Faulting/intrusions/thinning in northern portion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Historic disturbances carry transferable rehab liability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Carbon price trajectory; no abatement; Safeguard rising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Bronco may continue refusing; hostile seller limits DD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Overpay risk; short mine life; rehab liabilities inherited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Retention uncertain; contractor misalignment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Community perception of consolidation; increased activity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OC faces stronger opposition; higher carbon intensity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AC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F80"/>
                </a:solidFill>
                <a:latin typeface="Calibri"/>
              </a:rPr>
              <a:t>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B3D"/>
                </a:solidFill>
                <a:latin typeface="Calibri"/>
              </a:rPr>
              <a:t>Future Exploration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Option E: Future 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Freedom to target best-quality coal; historic targets exist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infra required during exploration (drilling only)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Exploration equipment standard and low-cost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Bowen Basin well-understood; regional data available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Exploration permits straightforward; minimal impact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operational carbon liability during exploration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Exploration programs straightforward; low mgmt complexity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Lowest capital — $5-10M exploration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Small exploration workforce readily available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Minimal workforce impact during exploration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Maintains WM pipeline; low-regret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defined resource; everything speculative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existing infra; greenfield dev $500M+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Full fleet procurement from scratch when project found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Greenfield high risk; 10-30% target-to-resource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Future mine requires full approvals — 3-5yr minimum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Future mine faces $120-200/t carbon; Scope 3 regulated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10-16yr lead time: exploration→PFS→approvals→dev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$900M closure due 2031-50 with no revenue; NPV negative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Complete loss of 800+ Springbok mining workforce by 2031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Severe community impact — Dustyroo Flats collapse; 800+ jobs lost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Abandoning mining business for 20+yr; board patience unlikely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May find higher-quality pure HCC (no thermal)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New project designed with modern efficient infra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Latest technology from inception (autonomous, electric)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3D seismic + advanced modelling de-risks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Low-carbon progressive-rehab mine may fast-track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Designed from inception with abatement; near-zero 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Can partner with exploration companies; parallel to closure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Major resource found at exploration cost vs acquisition $100Ms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Future project designed for optimal workforce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Future mine with community co-design; next generation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May identify non-coal resources; diversifies portfolio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May not find viable coal; best targets already held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Greenfield infra costs more than extending Springbok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Equipment costs may escalate further by 2040s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Complex geology possible in unexplored areas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Regulatory environment prohibitive for new coal by 2040+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Carbon prices may make new coal mines unviable by 2040+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20+yr means multiple mgmt cycles; continuity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May yield nothing; WM may not survive 20yr zero-revenue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Cannot rebuild skilled workforce after 20yr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Town may not exist by 2040+; community trust destroyed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WM may not survive as independent entity; wind-up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AC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F80"/>
                </a:solidFill>
                <a:latin typeface="Calibri"/>
              </a:rPr>
              <a:t>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B3D"/>
                </a:solidFill>
                <a:latin typeface="Calibri"/>
              </a:rPr>
              <a:t>No-Go Scenario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Option B: No-Go / Do Nothing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mine plan needed — cessation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infrastructure development needed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equipment procurement required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geotechnical risk (no mining activity)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approval risk; no new approvals needed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operational emissions (mine ceased)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Simplest execution path — cessation and rehab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Zero additional capital; no project execution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labour required for mining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Clear timeline (cessation Q4 2031, relinquishment 2050)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project execution risk; straightforward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No coal extracted; resource sterilised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CHPP, TLO, rail contracts written off at cessation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Existing fleet decommissioned/sold at distressed values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Sealed workings degrade; historic workings inaccessible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Relinquishment target 2050; ongoing compliance required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4.68M tCO2e decommissioned emissions over 20yr (no mitigation)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$900M closure due 2031-2050 with no revenue offset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$0 revenue post-2031; Springbok NPV only $279M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800+ jobs lost at cessation; skills permanently dispersed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Dustyroo Flats economic collapse; community disintegration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WM becomes closure management company; strategic atrophy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Resource remains for future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Infra repurposing (pit void, logistics hub)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Equipment sale generates some cash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N/A — no mining activity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Progressive rehab acceleration; early relinquishment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Reforestation ACCUs on rehabilitated land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Cost optimisation — audit found $162-180M savings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Rehab cost optimisation ($180M savings per audit)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Workforce transition to closure/rehab roles (limited)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Workforce transition programs; community diversification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All mitigants available under Recommendations 1-3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Resource may become stranded asset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Infra deteriorates during 20yr idle period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Replacement cost if resuming operations later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Subsidence from historic workings; groundwater ingress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Regulatory penalties if rehab standards not met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Safeguard Mechanism on decommissioned emissions; 20yr unmanaged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Closure execution risk; $900M outflow with no revenue buffer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Shareholder value destruction; going concern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Cannot rebuild workforce for future; skills permanently lost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Media backlash (competing mine precedent); native title issues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• Supplier chain collapse; WM may not survive as going concern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