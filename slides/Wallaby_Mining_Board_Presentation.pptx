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NPV Comparison (8% discount rate, corrected with capital schedule)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NPV ($M)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Sheet1!$A$2:$A$4</c:f>
              <c:strCache>
                <c:ptCount val="3"/>
                <c:pt idx="0">
                  <c:v>Springbok
(standalone)</c:v>
                </c:pt>
                <c:pt idx="1">
                  <c:v>Brave Blossom
(standalone)</c:v>
                </c:pt>
                <c:pt idx="2">
                  <c:v>Combined
(Springbok + BB)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279</c:v>
                </c:pt>
                <c:pt idx="1">
                  <c:v>997</c:v>
                </c:pt>
                <c:pt idx="2">
                  <c:v>1277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Capital Phasing by Year ($M, direct)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($M)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Sheet1!$A$2:$A$8</c:f>
              <c:strCache>
                <c:ptCount val="7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59</c:v>
                </c:pt>
                <c:pt idx="3">
                  <c:v>84</c:v>
                </c:pt>
                <c:pt idx="4">
                  <c:v>110</c:v>
                </c:pt>
                <c:pt idx="5">
                  <c:v>221</c:v>
                </c:pt>
                <c:pt idx="6">
                  <c:v>24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$900M Closure Liability Composition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Works ($494M)</c:v>
                </c:pt>
              </c:strCache>
            </c:strRef>
          </c:tx>
          <c:spPr>
            <a:solidFill>
              <a:srgbClr val="2DA03A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Contingency 35% ($173M)</c:v>
                </c:pt>
              </c:strCache>
            </c:strRef>
          </c:tx>
          <c:spPr>
            <a:solidFill>
              <a:srgbClr val="F5A623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Holding Costs 20yr ($233M)</c:v>
                </c:pt>
              </c:strCache>
            </c:strRef>
          </c:tx>
          <c:spPr>
            <a:solidFill>
              <a:srgbClr val="E03A3A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233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Decommissioned Mine Emissions (4.68M tCO2e over 20 years)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tCO2e (millions)</c:v>
                </c:pt>
              </c:strCache>
            </c:strRef>
          </c:tx>
          <c:spPr>
            <a:solidFill>
              <a:srgbClr val="2DA03A"/>
            </a:solidFill>
          </c:spPr>
          <c:cat>
            <c:strRef>
              <c:f>Sheet1!$A$2:$A$4</c:f>
              <c:strCache>
                <c:ptCount val="3"/>
                <c:pt idx="0">
                  <c:v>Unmanaged
Emissions</c:v>
                </c:pt>
                <c:pt idx="1">
                  <c:v>With Abatement
(70% reduction)</c:v>
                </c:pt>
                <c:pt idx="2">
                  <c:v>Residual
(30%)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4.68</c:v>
                </c:pt>
                <c:pt idx="1">
                  <c:v>3.28</c:v>
                </c:pt>
                <c:pt idx="2">
                  <c:v>1.4</c:v>
                </c:pt>
              </c:numCache>
            </c:numRef>
          </c:val>
        </c:ser>
        <c:dLbls>
          <c:numFmt formatCode="#,##0.0&quot;M tCO2e&quot;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Good morning Board. Today we present our strategic review of Wallaby Mining's life-extension options, closure liability reduction plan, and forward workplan. We have 15 minutes to walk you through our analysis and three recommendations, followed by 5 minutes of Q&amp;A. Let's start with 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Our recommendation is clear: proceed with Brave Blossom through a stage-gated funding model, actively reduce the $900M closure liability by 20%, and implement carbon abatement. The combined NPV is $1.28 billion. Every dollar invested in Brave Blossom defers $2.31 of closure liability. The rest of this presentation substantiates these three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The financial model shows Brave Blossom generates a standalone NPV of $997 million over a 20-year mine life — corrected from the workbook's $1,320M which was computed with zero capital costs. Capital is $389 million direct, $674 million with 30% contingency, phased across six years with stage gates. IRR is approximately 52%, well above our 8% hurdle rate. The combined NPV with Springbok is $1.28 billion. All four scenarios remain strongly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Brave Blossom's SWOT distils to four headlines: strong revenue and infrastructure leverage, but real weaknesses in coal quality and CHPP end-of-life. The dominant threat is federal approval uncertainty on 25% of the mine plan — we mitigate this with early DCCEEW engagement and a parallel state/federal process. Full 11-area SWOT is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capital-to-liability analysis is the strategic core. $389 million of capital defers $900 million of closure liability — a 1:2.31 ratio. The NPV of that deferral alone is $508 million, exceeding the PV of capital by approximately $185 million before any Brave Blossom revenue. The no-go alternative leaves $900 million due with no revenue to offset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$900 million closure estimate breaks down to $494 million in direct works, $173 million contingency at 35%, and $233 million in 20-year holding costs. The workbook is fully audited — zero arithmetic errors — but our review identified 8 issues and anomalies that present reduction opportunities. Carbon liability adds further exposure: 4.68 million tonnes of CO2e over 20 years post-cessation.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Our workbook audit identified six SMART-aligned reduction measures totalling $180.3 million — a 20% reduction from the $900 million baseline. The largest is removing a duplicate TSF costing in Domain 2 at up to $43.8 million, followed by reducing contingency from 35% to 25% for $49.4 million. All measures are specific, measurable, achievable, relevant, and time-bound, with implementation timelines starting Q2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Carbon is a growing liability — 4.68 million tonnes over 20 years at prices rising to $200 per tonne. Our third recommendation converts this liability into a revenue stream: extend gas capture post-closure, generate ACCUs from methane destruction, and use bio-sequestration on rehabilitated land. The target is a 70% reduction versus an unmanaged baseline, with the system operational by Q2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Beyond Brave Blossom, we assessed three alternatives. Brumby Xanadu is a promising open cut concept — lower capital, potential cashflow bridge — but lacks resource tonnage and capital estimates, so we recommend $5-8 million for PFS. Bronco has rejected all approaches; we maintain strategic optionality and monitor their financial position. Future exploration is low-cost but leaves $900 million due with no revenue offset, so it's a parallel workstream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forward workplan is stage-gated to manage risk. We commit $20 million for studies and drilling through 2028, then make a go/no-go decision at Gate 1 based on PFS results and federal approval clarity. Only then does the $369 million development capital flow. Parallel workstreams — closure reduction, carbon abatement, Brumby PFS — run concurrently. First coal is targeted for end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We evaluated five options. The no-go scenario is explicit: $900 million falls due with no revenue, 800 jobs are lost, and Dustyroo Flats faces economic collapse. Option C — phased go — is incorporated into our Recommendation 1 as stage gates, giving us the optionality of a phased approach with the revenue of a full go. Our decision: go, stage-gated.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Each recommendation carries risks we've assessed honestly. The dominant risk is federal approval uncertainty on 25% of Brave Blossom's mine plan — mitigated by early engagement and a fallback to mine only within the ML boundary, reducing life from 20 to 15 years. Closure reduction risk is low — we start with the highest-confidence measure. Carbon abatement leverages existing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This integrated timeline shows all three recommendations running in parallel. Studies and closure reduction start immediately in 2027. Gate 1 at end 2028 is our first go/no-go decision. First coal in 2032, gas capture operational by Q2 2032, and progressive lease relinquishment from 2035.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To summarise: we recommend proceeding with Brave Blossom through stage gates, reducing closure liability by $180.3 million, and implementing carbon abatement. Combined NPV is $1.28 billion. We ask the board to approve $20 million in studies funding, endorse the closure reduction program, and support carbon abatement design.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from analysis file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Substantiates the $180.3M closure reduction with audit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capital breakdown by year and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Detailed SWOT for alternative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Substantiates the explicit no-go analysis per brief tip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carbon modelling detail. Use for board ESG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Wallaby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F37"/>
                </a:solidFill>
              </a:defRPr>
            </a:pPr>
            <a:r>
              <a:t>2026 Strategic Review: Life Extension, Liability Reduction &amp; Forward Workplan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8"/>
                </a:solidFill>
              </a:defRPr>
            </a:pPr>
            <a:r>
              <a:t>Prepared for the Wallaby Mining Board of Directors  |  Waratah Resources JV (60% WM)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8"/>
                </a:solidFill>
              </a:defRPr>
            </a:pPr>
            <a:r>
              <a:t>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Valuation &amp; SWOT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Liability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Other 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RECOMMENDATION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Our Three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3474720" cy="9144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$1,277M</a:t>
            </a:r>
            <a:br/>
            <a:r>
              <a:t>Combined NPV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3474720" cy="91440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$180M</a:t>
            </a:r>
            <a:br/>
            <a:r>
              <a:t>Closure Reduction (20%)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14400"/>
            <a:ext cx="347472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$20M</a:t>
            </a:r>
            <a:br/>
            <a:r>
              <a:t>Stage 1 Funding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1: Stage-Gated Brave Blossom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Progress via stage gates: $20M PFS (2027-28), full $389M gated on PFS + federal approval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t>NPV: $997M standalone</a:t>
            </a:r>
            <a:br/>
            <a:r>
              <a:t>IRR: ~52% (est.)</a:t>
            </a:r>
            <a:br/>
            <a:r>
              <a:t>1:2.31 capital-to-liability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103120"/>
            <a:ext cx="3657600" cy="50292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2: Optimise Closure 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6 SMART measures targeting $180.3M (20%) reduction from $900M baseline by end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A03A"/>
                </a:solidFill>
              </a:defRPr>
            </a:pPr>
            <a:r>
              <a:t>Target: $180.3M (20%)</a:t>
            </a:r>
            <a:br/>
            <a:r>
              <a:t>6 SMART targets</a:t>
            </a:r>
            <a:br/>
            <a:r>
              <a:t>All implementable by end 2027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103120"/>
            <a:ext cx="36576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3: Carbon Abatement &amp; Gas Monetisation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70% reduction in decommissioned mine emissions; gas capture system operational Q2 2032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$14.1M cost -&gt; revenue</a:t>
            </a:r>
            <a:br/>
            <a:r>
              <a:t>70% emissions abatement</a:t>
            </a:r>
            <a:br/>
            <a:r>
              <a:t>ACCUs from methane capture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3D"/>
                </a:solidFill>
              </a:defRPr>
            </a:pPr>
            <a:r>
              <a:t>Bottom line: Every $1 invested in Brave Blossom defers $2.31 of closure liability. Combined NPV $1,277M across all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Valuation: NPV, IRR &amp; Capital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00584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38328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8% (workbook Assumptions 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FX rate (USD:AUD)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0.69 (flat from 2026+)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PHCC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USD $240/t (AUD ~$348/t)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BB realised price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USD $211.20/t (12% quality discount)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Carbon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Accelerated Transition: $45-&gt;$200/t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Capital (direct)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$388.9M (unit costs sum $387.9M)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Capital (risked, 30% cont.)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$673.9M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IRR (estimated)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~52% (with capital, 30% cont.)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114800"/>
            <a:ext cx="50292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Revenue Profile (steady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Annual revenue: AUD $1,652M p.a. (2033-2048)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Total ROM: 142.6Mt (development 5.8Mt + longwall 136.8Mt)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Saleable product: 96.8Mt (100% PHCC at 88% benchmark)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CHPP yield: 68% steady-state (48% during ramp)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Mine life: 20 years (2033-2052)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206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NPV Sensitivity (all scenarios positive)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4480560"/>
          <a:ext cx="5577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NPV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 contingency + tax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30% contingency + tax shield (BASE)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997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 contingency, no tax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30% contingency, no tax shield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859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Brave Blossom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20-year revenue extension (2033-2052)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Known coal measures (Mentelle 5 seam)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Leverages existing CHPP, rail, port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Retains 800+ workforce and community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Coal quality deterioration (12% price discount)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CHPP end-of-life 2032 ($24M EPCM needed)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25% of mine plan on MDL (federal approval)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Long lead time (first coal ~2033)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Progressive rehab during mine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Gas drainage monetisation post-closure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Rail/port contract renewal (6mtpa before 2028)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5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MDL -&gt; ML conversion for 25% of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THREATS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Federal approval uncertainty (DCCEEW)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Geotechnical risk (monocline, historic workings)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66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Carbon cost escalation ($45 -&gt; $200/t)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2355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Competing mines on rail line from 2028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 SWOT areas covered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Capital-to-Liability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</a:defRPr>
            </a:pPr>
            <a:r>
              <a:t>$389M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Direct 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3A3A"/>
                </a:solidFill>
              </a:defRPr>
            </a:pPr>
            <a:r>
              <a:t>$900M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Closure liability deferred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2560320" cy="54864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A03A"/>
                </a:solidFill>
              </a:defRPr>
            </a:pPr>
            <a:r>
              <a:t>1:2.31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$1 capital defers $2.31 closure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914400"/>
            <a:ext cx="25603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$508M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NPV of deferral (7%, 20yr)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56032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25603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18872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Closure Impact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A: Full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$389M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20yr (2033-52)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deferred 20yr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RECOMMENDED (stage-gated)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B: No-Go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C: Phased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$20M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 deferral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Incorporated into Rec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3A3A"/>
                </a:solidFill>
              </a:defRPr>
            </a:pPr>
            <a:r>
              <a:t>No-Go (Option B): $900M closure due 2031-2050 with zero revenue offset.</a:t>
            </a:r>
            <a:br/>
            <a:r>
              <a:t>800+ jobs lost. Dustyroo Flats economic collapse.</a:t>
            </a:r>
            <a:br/>
            <a:r>
              <a:t>WM becomes a closure management company.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Sensitivity: realised price +/-5% = material NPV impact. Carbon cost and CHPP yield are secondary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$900M Closure Liability Breakdown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00584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$900M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Pits &amp; Voids (Domain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Tailings (Domain 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126.4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Holding Costs (20yr)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Contingency (35%)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Infrastructure (Domain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Other domains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76.7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0720" y="3474720"/>
            <a:ext cx="59436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5661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Decommissioned mine emissions: 4.68M tCO2e over ~20 years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Springbok: 1.6M tCO2e above baseline (5 years)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Brave Blossom: 20.1M tCO2e above baseline (20 years)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Carbon price: $45/t (2026) -&gt; $200/t (2075)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Safeguard Mechanism: &gt;100,000 tCO2e/yr triggers regulation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502920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Workbook Audit: 284 line items, 9 domains, 296 unit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DA03A"/>
                </a:solidFill>
              </a:defRPr>
            </a:pPr>
            <a:r>
              <a:t>0 arithmetic errors — fully verified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8 issues/anomalies identified -&gt; reduction opportunities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Target: all recommendations implementable by end of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6 SMART Reduction Measures: $180.3M (20%)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$900M -&gt; $719.7M  |  6 SMART targets  |  20% reduction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1188720"/>
                <a:gridCol w="109728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SMART Target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Saving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$900M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Remove duplicate TSF costing (Domain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39.5-43.8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4.4-4.9%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Q2-Q3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Reduce contingency 35%-&gt;25%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49.4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Q4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House sale vs demolition (505 houses)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Accelerate progressive rehab ($2.5-&gt;$5M/yr)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lease relinquishment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First app 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Monetise gas drainage post-closure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14.1-&gt;rev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1.6%+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 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180.3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</a:defRPr>
            </a:pPr>
            <a:r>
              <a:t>Implementation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7315200" cy="54864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Q2 2027</a:t>
            </a:r>
            <a:br/>
            <a:r>
              <a:t>TSF removal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9112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Q4 2027</a:t>
            </a:r>
            <a:br/>
            <a:r>
              <a:t>Conting.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4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2029</a:t>
            </a:r>
            <a:br/>
            <a:r>
              <a:t>House sale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1416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5656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2031</a:t>
            </a:r>
            <a:br/>
            <a:r>
              <a:t>Progress. rehab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7568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Q2 2032</a:t>
            </a:r>
            <a:br/>
            <a:r>
              <a:t>Gas monet.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2035</a:t>
            </a:r>
            <a:br/>
            <a:r>
              <a:t>Lease relinqu.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657600" cy="3200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Before / 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A3A"/>
                </a:solidFill>
              </a:defRPr>
            </a:pPr>
            <a:r>
              <a:t>Before: $900M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A03A"/>
                </a:solidFill>
              </a:defRPr>
            </a:pPr>
            <a:r>
              <a:t>After: $719.7M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B3D"/>
                </a:solidFill>
              </a:defRPr>
            </a:pPr>
            <a:r>
              <a:t>Saving: $180.3M (20%)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S - Specific (line-item-level)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M - Measurable ($180.3M)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A - Achievable (current revenue)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R - Relevant (board objective)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T - Time-bound (end 2027)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Carbon Abatement &amp; Gas Monetisation (Rec 3)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760720" y="1005840"/>
            <a:ext cx="5943600" cy="2743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Abatement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1732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1. Extend gas offsite agreement (methane within contract specs)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2. Install post-closure gas capture &amp; flaring infrastructure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3. Generate ACCUs from methane capture/destruction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4. Model Safeguard Mechanism baseline -&gt; abatement pathway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5. Explore flooding sealed workings to suppress emissions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6. Reforestation/vegetation on rehabilitated land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SMART target: 70% reduction vs unmanaged baseline</a:t>
            </a:r>
          </a:p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System operational: Q2 2032 (6 months post-cessation)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00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Price Sensitivity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29768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Carbon Price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Unmanaged Liability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With 70% Abatement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$45/t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~$211M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~$63M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$100/t (mid-range)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~$468M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~$140M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$200/t (2075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~$936M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~$281M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217920" y="3931920"/>
            <a:ext cx="5486400" cy="2468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A03A"/>
                </a:solidFill>
              </a:defRPr>
            </a:pPr>
            <a:r>
              <a:t>Cost -&gt; Revenue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$14.1M gas drainage cost -&gt; revenue stream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ACCU generation from methane destruction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Gas infrastructure required for safety (outburst mitigation)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Incremental cost of post-closure extension is marginal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Dual-purpose investment: safety +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3: Other Projects &amp; Forward 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Other Projects: Brumby, Bronco &amp; Future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3657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Brumby Open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Xanadu seam, 1.5Mtpa, 25km 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CC"/>
                </a:solidFill>
              </a:defRPr>
            </a:pPr>
            <a:r>
              <a:t>PFS RECOMMENDED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70/30 GCN thermal / PHCC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Low strip ratio (4.5-4.9 bcm/t historic)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Cashflow bridge (2031-2033 gap)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Lower capital than BB; known geological analog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Gaps: no resource tonnage, no capital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PFS funding: $5-8M 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914400"/>
            <a:ext cx="365760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Bronco Acquisition (Option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Adjacent lease ML1654, resource extends from Springbok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Repeatedly rejected all approaches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Resource extends from Springbok seam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Maintain strategic optionality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Dual-track: monitor + Brumby PFS may strengthen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Financial struggles may force future 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No resource/quality/strip ratio data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914400"/>
            <a:ext cx="3657600" cy="8229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Future Exploration (Option 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$5-10M low-cost exploration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</a:defRPr>
            </a:pPr>
            <a:r>
              <a:t>PARALLEL WORKSTREAM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Post-2052 revenue potential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$900M still due 2031-2050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Not recommended as standalone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Include as parallel workstream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Does not solve closure timing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Defers revenue too far into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3: Other Projects &amp; Forward 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Forward Workplan &amp; Stage Gates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8686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914400"/>
                <a:gridCol w="21031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PFS, exploration drilling, federal approval engagement, gas contract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PFS completion, resource definition, CHPP life extension study, rail/port negotiation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1: PFS results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Ventilation shafts, drift construction, mine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Development continues, approvals finalised, longwall ordered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2: Approvals secured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Mining equipment, ROM bin, conveyors, UG conveyor relocation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Longwall delivery, CHPP EPCM, ROM bin, commissioning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3: First coal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CHPP EPCM completion, ramp to full production ~6mtpa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326880" y="914400"/>
            <a:ext cx="2377440" cy="411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05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</a:defRPr>
            </a:pPr>
            <a:r>
              <a:t>Parallel Workstreams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371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Closure SMART measures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(6 targets, $180.3M)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5A623"/>
                </a:solidFill>
              </a:defRPr>
            </a:pPr>
            <a:r>
              <a:t>Carbon abatement design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(gas capture, ACCUs)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007ACC"/>
                </a:solidFill>
              </a:defRPr>
            </a:pPr>
            <a:r>
              <a:t>Brumby PFS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($5-8M)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6B7280"/>
                </a:solidFill>
              </a:defRPr>
            </a:pPr>
            <a:r>
              <a:t>Exploration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($5-10M)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8686800" cy="9144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Total forward work plan: $20M before Gate 1 decision  |  Total capital (direct): $388.9M  |  Risked (30% cont.): $673.9M</a:t>
            </a:r>
            <a:br/>
            <a:r>
              <a:t>Only $20M committed before PFS results and approval pathway are confirmed.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Option Comparison &amp; Decision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1188720"/>
                <a:gridCol w="1371600"/>
                <a:gridCol w="7315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Closure Impact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A: Brave Blossom Full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$389M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20yr (2033-52)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deferred 20yr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RECOMMENDED (stage-gated)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B: No-Go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Low (exec)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REJECTED (value destruction)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C: Phased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$20M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Incorporated into Rec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D: Bronco Acquisition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Partial deferral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MONITOR (strategic option)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E: Future Projects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$5-10M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Post-2052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Parallel workstream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961120" y="914400"/>
            <a:ext cx="2743200" cy="27432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A3A"/>
                </a:solidFill>
              </a:defRPr>
            </a:pPr>
            <a:r>
              <a:t>No-Go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$900M closure due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800+ jobs lost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Dustyroo Flats collapse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WM = closure mgmt co.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No revenue offset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Workforce dispersal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Cannot rebuild for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A03A"/>
                </a:solidFill>
              </a:defRPr>
            </a:pPr>
            <a:r>
              <a:t>Decision: GO — Stage-Gated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B3D"/>
                </a:solidFill>
              </a:defRPr>
            </a:pPr>
            <a:r>
              <a:t>Combines optionality of C with revenue of A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$20M Stage 1 -&gt; Gate 1 -&gt; Gate 2 -&gt; Gate 3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Major capital only after approvals confirmed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Stage gates protect against binary 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Federal Approval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A623"/>
                </a:solidFill>
              </a:defRPr>
            </a:pPr>
            <a:r>
              <a:t>If 25% on MDL fails -&gt; mine only 75% within ML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Mine life: 20yr -&gt; ~15yr (75% of plan)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NPV still strongly positive at ~15yr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75% within ML has state approval already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Early DCCEEW engagement de-risks pathway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Risks &amp; Mitigation per Recommendation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4114800"/>
                <a:gridCol w="13716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Risk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 Stage-gated Brave Blossom</a:t>
                      </a:r>
                    </a:p>
                    <a:p>
                      <a:r>
                        <a:t>(NPV $997M, IRR ~52%)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Federal approval uncertainty</a:t>
                      </a:r>
                    </a:p>
                    <a:p>
                      <a:r>
                        <a:t>(25% of mine plan on MDL)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Early DCCEEW engagement (2027)</a:t>
                      </a:r>
                    </a:p>
                    <a:p>
                      <a:r>
                        <a:t>Parallel state/federal process</a:t>
                      </a:r>
                    </a:p>
                    <a:p>
                      <a:r>
                        <a:t>Fallback: 75% within ML = ~15yr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2. Optimise closure liability</a:t>
                      </a:r>
                    </a:p>
                    <a:p>
                      <a:r>
                        <a:t>($180.3M / 20% reduction)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Independent review may</a:t>
                      </a:r>
                    </a:p>
                    <a:p>
                      <a:r>
                        <a:t>confirm $900M estimate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Start with highest-confidence item</a:t>
                      </a:r>
                    </a:p>
                    <a:p>
                      <a:r>
                        <a:t>(Duplicate TSF removal, $39.5-43.8M)</a:t>
                      </a:r>
                    </a:p>
                    <a:p>
                      <a:r>
                        <a:t>Phase implementation across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3. Carbon abatement</a:t>
                      </a:r>
                    </a:p>
                    <a:p>
                      <a:r>
                        <a:t>(70% emissions reduction)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capture infrastructure</a:t>
                      </a:r>
                    </a:p>
                    <a:p>
                      <a:r>
                        <a:t>cost and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Existing drainage infrastructure extends</a:t>
                      </a:r>
                    </a:p>
                    <a:p>
                      <a:r>
                        <a:t>SMART target Q2 2032 achievable</a:t>
                      </a:r>
                    </a:p>
                    <a:p>
                      <a:r>
                        <a:t>ACCU revenue offsets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Cross-Cutting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Coal quality deterioration — 12% discount may widen; PFS drilling will quantify ($10M in Stage 1)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Rail/port capacity — 4mtpa current vs 6mtpa needed; 2027 renewal window; 2 competing mines from 2028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CHPP end-of-life 2032 — $24M EPCM in capital plan; design capacity matches BB ROM target (8Mt/yr feed)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Labour market — 2 new competing mines from 2028; 2-year gap risk (2031-2033)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Each recommendation has resultant cashflow analysis and implementation risk assessment per brief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Integrated Timeline &amp; Milestones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3474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Brave Blossom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Closure Reduction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Carbon Abatement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PFS + drilling ($10M)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SMART #1-4 commence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contract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Gate 1: PFS results ($10M)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Revised estimate Q4 ($180.3M target)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Abatement design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2029-30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BB development ($143M)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Brumby PFS ($5-8M)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Springbok closure; BB equipment ($110M)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Lease relinquishment prep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Gate 3: First coal; Longwall ($221M)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capture operational 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2033+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Full production 6mtpa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Lease relinquishment (first app 2035)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Carbon revenue stream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Stage Gates — Major capital gated on study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1 (end 2028): PFS results, approval pathway clarity, updated resource -&gt; Go/No-Go decision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2 (end 2030): Federal approvals secured, CHPP committed, rail/port 6mtpa confirmed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3 (end 2032): First coal — longwall operational, CHPP EPCM complete, ramp to 6mtpa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Reflects early-stage nature: major capital gated, studies-first approach, $20M committed before Gate 1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Closing &amp; Q&amp;A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 Recommendations: Stage-gated Brave Blossom | Closure liability reduction | Carbon abatement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Combined NPV: $1,277M  |  Closure reduction: $180.3M (20%)  |  Stage 1 ask: $20M</a:t>
            </a:r>
          </a:p>
          <a:p>
            <a:pPr>
              <a:spcAft>
                <a:spcPts val="400"/>
              </a:spcAft>
              <a:defRPr sz="1300" b="0">
                <a:solidFill>
                  <a:srgbClr val="A0B0C8"/>
                </a:solidFill>
              </a:defRPr>
            </a:pPr>
            <a:r>
              <a:t>1:2.31 capital-to-liability ratio — $1 invested defers $2.31 of closure</a:t>
            </a:r>
          </a:p>
          <a:p>
            <a:pPr>
              <a:spcAft>
                <a:spcPts val="400"/>
              </a:spcAft>
              <a:defRPr sz="1300" b="0">
                <a:solidFill>
                  <a:srgbClr val="A0B0C8"/>
                </a:solidFill>
              </a:defRPr>
            </a:pPr>
            <a:r>
              <a:t>All scenarios positive ($859M-$1,072M); IRR ~52% (well above 8% hurdle)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</a:defRPr>
            </a:pPr>
            <a:r>
              <a:t>Key Asks from the Board: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1. Approve $20M studies funding for 2027-2028 (Gate 1 decision end 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2. Endorse closure liability reduction program (6 SMART measures, $180.3M target)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3. Support carbon abatement design and gas contract extension negotiation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4. Note Brumby PFS and Bronco monitoring as parallel workstreams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7150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Appendix slides A1-A6 available for Q&amp;A deep-dives  |  We welcome your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Full Brave Blossom SWOT — All 11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1. Mine plan &amp; coal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914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20yr life, known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12% quality discount, CHPP yield 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2.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Leverages existing CHPP/rail/port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CHPP end-of-life 2032, $24M EPCM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3. Equipment suitability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Longwall transferable from Springbok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Long lead time 18-24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4. Geological / geotechnical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Same Blackwater Group stratigraphy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Monocline, faulting, historic roof falls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5. Approvals / environmental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75% within ML (state approved)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25% on MDL (federal DCCEEW)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6. Carbon 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Gas drainage infra exists (dual-purpose)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429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20.1M tCO2e above baseline (20yr)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7. Deliverability / complexity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Stage-gated reduces execution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6-year development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8. Financial implications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NPV $997M, IRR ~52%, all scenarios 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Peak capital $221M in 2032 (gap)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9. Labour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800 staff, skills transferable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2 competing mines from 2028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10. People / change mgmt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20yr job security vs contract labour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440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2yr gap (2031-33), roster changes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B3D"/>
                </a:solidFill>
              </a:defRPr>
            </a:pPr>
            <a:r>
              <a:t>11. Other board considerations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Community social licence maintained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</a:defRPr>
            </a:pPr>
            <a:r>
              <a:t>W: ESG investor sentiment, market perception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Workbook Audit: 8 Issues &amp; Anomalies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645920"/>
                <a:gridCol w="1828800"/>
                <a:gridCol w="27432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 Impact (M)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Duplicate TSF costing (Domain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39.5-43.8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Q2-Q3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Contingency at 35% (above industry 25%)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49.4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Med-High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Q4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House demolition vs sale (505 houses)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 underfunded ($2.5M vs $5M)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No progressive lease relinquishment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First app 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drainage not monetised post-closure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14.1-&gt;rev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 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Execution-phase detail missing from workbook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PFS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Outdated rate escalations in rate library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QS review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Source: 2024 Planned Closure Cost workbook audit (vault files 18-19, analysis file 01). 0 arithmetic errors across 284 line items.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Brave Blossom Capital Schedule (Detailed)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032357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78408"/>
                <a:gridCol w="978408"/>
                <a:gridCol w="978408"/>
                <a:gridCol w="978408"/>
                <a:gridCol w="978408"/>
                <a:gridCol w="978408"/>
                <a:gridCol w="978408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Capital Item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($k)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2032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2033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Projects /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Exploration Drilling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ROM Bin Upgrade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Ventilation Shafts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Mine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Drift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Drift Conveyor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ROM Stockpile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UG Conveyors Relocation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Longwall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190,000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Mining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Infra + CHPP EPCM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TOTAL (direct)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388,900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With 30% contingency: $673.9M total  |  Peak year 2032: $221M (longwall delivery)  |  Source: vault file 07 / analysis file 01b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Brumby &amp; Bronco SWOT (11 Areas)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Brumby Open Cut (Xanadu seam)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Known geological analog, low strip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No resource tonnage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Cashflow bridge 2031-2033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No capital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Lower capital than BB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Tenement status unconfirmed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70/30 GCN/PHCC product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GCN thermal coal (market risk)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PFS funding $5-8M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17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25km from existing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Extension of known seam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29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Open cut approval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Uses existing CHPP (if extended)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404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Competing land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</a:defRPr>
            </a:pPr>
            <a:r>
              <a:t>Bronco Acquisition (Option 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Resource extends from Springbok seam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No resource/quality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Adjacent lease (ML1654)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Repeatedly rejected approaches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945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Potential synergies with Springbok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1945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Unknown capital requirement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S: Maintains workforce continuity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W: Valuation expectations unknown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Monitor financial 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17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Acquisition premium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29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Dual-track with Brumby PFS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429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Due diligence access limited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404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A03A"/>
                </a:solidFill>
              </a:defRPr>
            </a:pPr>
            <a:r>
              <a:t>O: Future sale may force opportunity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8404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3A3A"/>
                </a:solidFill>
              </a:defRPr>
            </a:pPr>
            <a:r>
              <a:t>T: Integration complexity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No-Go Scenario Deep-Dive (Option B)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256032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A3A"/>
                </a:solidFill>
              </a:defRPr>
            </a:pPr>
            <a:r>
              <a:t>Financial Consequences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$900M closure due 2031-2050 (no revenue offset)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$0 revenue post-2031 (Springbok ceases Q4 2031)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Full $900M outflow with no offsetting revenue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CHPP, infrastructure, TLO written off at cessation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20-year unmanaged carbon liability (4.68M tCO2e)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Net cash position 2031-2050: deeply negative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14400"/>
            <a:ext cx="5760720" cy="256032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005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A3A"/>
                </a:solidFill>
              </a:defRPr>
            </a:pPr>
            <a:r>
              <a:t>Workforce &amp; 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800+ jobs lost at cessation (Q4 2031)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Dustyroo Flats economic collapse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Competing mine precedent: media backlash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Supplier chain collapse (diversification happening)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Workforce dispersal — cannot rebuild for future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Native title holder relations if closure mismanaged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NPV Comparison: Go vs No-Go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1148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743200"/>
                <a:gridCol w="24688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NPV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Closure Impact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Go (stage-gated)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$1,652M p.a. (2033-2048)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$900M deferred to post-2052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Value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No-Go (Option B)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279 (Springbok only)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$0 post-2031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$900M due 2031-2050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Value destruction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Carbon Liability &amp; Safeguard Mechanism Detail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645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tCO2e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Above Baseline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Springbok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 (5yr)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Brave Blossom operational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18.9M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2033-2052 (20yr)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20.1M tCO2e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Decommissioned mine (combined)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4.68M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2052-2072 (20yr)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Total Scope 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23.6M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914400"/>
            <a:ext cx="54864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Price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Accelerated Transition: $45/t (2026) -&gt; $200/t (2075)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Modelled in DCF: $12/t (2033) -&gt; $27/t (2050)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Carbon cost in NPV: ~$200M+ over mine life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At $150/t flat: decommissioned liability ~$700M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With 70% abatement: liability reduced to ~$210M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ACCU revenue from methane capture offsets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124712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Safeguard Mechanism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B3D"/>
                </a:solidFill>
              </a:defRPr>
            </a:pPr>
            <a:r>
              <a:t>Threshold: &gt;100,000 tCO2e/yr triggers regulation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Springbok baseline: 426k -&gt; 293k tCO2e (2027-2031) — declining hybrid methodology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Brave Blossom baseline: 9,475k -&gt; 0 (2031-2050) — declining over mine life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Above baseline: 20.1M tCO2e over 20 years — material compliance liability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Methodology: NGER Determination Method 3.32 (CH4 emissions from decommissioned mines)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Risk: baseline tightening or methodology changes increase exposure</a:t>
            </a:r>
          </a:p>
          <a:p>
            <a:pPr>
              <a:spcAft>
                <a:spcPts val="400"/>
              </a:spcAft>
              <a:defRPr sz="1200" b="0">
                <a:solidFill>
                  <a:srgbClr val="2DA03A"/>
                </a:solidFill>
              </a:defRPr>
            </a:pPr>
            <a:r>
              <a:t>Mitigation: Recommendation 3 — gas capture, ACCU generation, 70% abatement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